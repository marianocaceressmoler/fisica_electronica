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271" r:id="rId2"/>
    <p:sldId id="361" r:id="rId3"/>
    <p:sldId id="362" r:id="rId4"/>
    <p:sldId id="318" r:id="rId5"/>
    <p:sldId id="335" r:id="rId6"/>
    <p:sldId id="359" r:id="rId7"/>
    <p:sldId id="360" r:id="rId8"/>
    <p:sldId id="321" r:id="rId9"/>
    <p:sldId id="365" r:id="rId10"/>
    <p:sldId id="364" r:id="rId11"/>
    <p:sldId id="366" r:id="rId12"/>
    <p:sldId id="363" r:id="rId13"/>
    <p:sldId id="316" r:id="rId14"/>
    <p:sldId id="317" r:id="rId15"/>
    <p:sldId id="327" r:id="rId16"/>
    <p:sldId id="326" r:id="rId17"/>
    <p:sldId id="315" r:id="rId18"/>
    <p:sldId id="324" r:id="rId19"/>
    <p:sldId id="325" r:id="rId20"/>
    <p:sldId id="344" r:id="rId21"/>
    <p:sldId id="367" r:id="rId22"/>
    <p:sldId id="320" r:id="rId23"/>
    <p:sldId id="334" r:id="rId24"/>
    <p:sldId id="333" r:id="rId25"/>
    <p:sldId id="338" r:id="rId26"/>
    <p:sldId id="346" r:id="rId27"/>
    <p:sldId id="339" r:id="rId28"/>
    <p:sldId id="345" r:id="rId29"/>
    <p:sldId id="340" r:id="rId30"/>
    <p:sldId id="355" r:id="rId31"/>
    <p:sldId id="353" r:id="rId32"/>
    <p:sldId id="354" r:id="rId33"/>
    <p:sldId id="369" r:id="rId34"/>
    <p:sldId id="347" r:id="rId35"/>
    <p:sldId id="348" r:id="rId36"/>
    <p:sldId id="349" r:id="rId37"/>
    <p:sldId id="350" r:id="rId38"/>
    <p:sldId id="342" r:id="rId39"/>
    <p:sldId id="368" r:id="rId40"/>
    <p:sldId id="352" r:id="rId41"/>
    <p:sldId id="328" r:id="rId4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>
      <p:cViewPr varScale="1">
        <p:scale>
          <a:sx n="82" d="100"/>
          <a:sy n="82" d="100"/>
        </p:scale>
        <p:origin x="-1502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E86E5-A8C7-44E3-B118-904411495B05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41F3A-ADD6-4BB6-B0AD-D69CA48A98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190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EE4A9-0590-4A16-90E8-109F1B8A0FC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194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283911C-5D98-4557-81EB-79E9D84B0934}"/>
              </a:ext>
            </a:extLst>
          </p:cNvPr>
          <p:cNvSpPr/>
          <p:nvPr/>
        </p:nvSpPr>
        <p:spPr>
          <a:xfrm>
            <a:off x="-1" y="6217920"/>
            <a:ext cx="9144001" cy="6400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9C59703-0374-4B77-B70E-857867224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516" y="1829119"/>
            <a:ext cx="7601990" cy="3781972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2400"/>
            </a:lvl1pPr>
            <a:lvl2pPr marL="457200" indent="0" algn="l">
              <a:buFont typeface="Arial" panose="020B0604020202020204" pitchFamily="34" charset="0"/>
              <a:buChar char="•"/>
              <a:defRPr sz="2000"/>
            </a:lvl2pPr>
            <a:lvl3pPr marL="914400" indent="0" algn="l">
              <a:buFont typeface="Arial" panose="020B0604020202020204" pitchFamily="34" charset="0"/>
              <a:buChar char="•"/>
              <a:defRPr sz="1800"/>
            </a:lvl3pPr>
            <a:lvl4pPr marL="1371600" indent="0" algn="l">
              <a:buFont typeface="Arial" panose="020B0604020202020204" pitchFamily="34" charset="0"/>
              <a:buChar char="•"/>
              <a:defRPr sz="1600"/>
            </a:lvl4pPr>
            <a:lvl5pPr marL="1828800" indent="0" algn="l">
              <a:buFont typeface="Arial" panose="020B0604020202020204" pitchFamily="34" charset="0"/>
              <a:buChar char="•"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AR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xmlns="" id="{83F05671-ACE6-4223-ACD7-40FC521ED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2273" y="6356351"/>
            <a:ext cx="1028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4314E904-6901-431B-9BA7-C86E1292ACDF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396B9C56-DA20-4105-92FC-3016192B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E40EDDB-62DE-40DE-8960-65D1153EE1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pic>
        <p:nvPicPr>
          <p:cNvPr id="8" name="Picture 2" descr="ITBA – Instituto Tecnológico de Buenos Aires">
            <a:extLst>
              <a:ext uri="{FF2B5EF4-FFF2-40B4-BE49-F238E27FC236}">
                <a16:creationId xmlns:a16="http://schemas.microsoft.com/office/drawing/2014/main" xmlns="" id="{7960EA1D-F13E-4C37-A522-371E128C2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61" y="6299693"/>
            <a:ext cx="922778" cy="51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92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87CC850D-4C6E-493A-9C73-7D79D8EF461A}" type="datetime1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4314E904-6901-431B-9BA7-C86E1292AC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ABC58F1-D375-480D-AE28-7E69D54EC4B3}"/>
              </a:ext>
            </a:extLst>
          </p:cNvPr>
          <p:cNvSpPr/>
          <p:nvPr/>
        </p:nvSpPr>
        <p:spPr>
          <a:xfrm>
            <a:off x="0" y="6218872"/>
            <a:ext cx="9144001" cy="6400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AR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E18AFC7-C4E2-422C-B97A-90CE1A810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pic>
        <p:nvPicPr>
          <p:cNvPr id="9" name="Picture 2" descr="ITBA – Instituto Tecnológico de Buenos Aires">
            <a:extLst>
              <a:ext uri="{FF2B5EF4-FFF2-40B4-BE49-F238E27FC236}">
                <a16:creationId xmlns:a16="http://schemas.microsoft.com/office/drawing/2014/main" xmlns="" id="{B215FD9A-9B2A-4EFA-9400-82FA186DB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61" y="6299693"/>
            <a:ext cx="922778" cy="51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05310D9-253F-4285-B83E-746D6BA63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0280" y="6356349"/>
            <a:ext cx="4663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Física Electrónica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879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20688"/>
            <a:ext cx="7615758" cy="709961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Verdana" pitchFamily="34" charset="0"/>
                <a:ea typeface="Verdana" pitchFamily="34" charset="0"/>
              </a:rPr>
              <a:t>Semiconductores y Dispositivos de Potencia</a:t>
            </a:r>
            <a:endParaRPr lang="es-E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CD7CF-A9F4-44B8-9440-CCCA57D4FD1F}" type="slidenum">
              <a:rPr lang="es-ES" smtClean="0"/>
              <a:t>1</a:t>
            </a:fld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1691680" y="1628800"/>
            <a:ext cx="576064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000" dirty="0" smtClean="0"/>
              <a:t>Dispositivos:</a:t>
            </a:r>
          </a:p>
          <a:p>
            <a:r>
              <a:rPr lang="es-ES" sz="2000" dirty="0"/>
              <a:t> </a:t>
            </a:r>
            <a:r>
              <a:rPr lang="es-ES" sz="2000" dirty="0" smtClean="0"/>
              <a:t>           </a:t>
            </a:r>
            <a:r>
              <a:rPr lang="es-ES" sz="2000" dirty="0"/>
              <a:t>Diodo </a:t>
            </a:r>
            <a:r>
              <a:rPr lang="es-ES" sz="2000" dirty="0" smtClean="0"/>
              <a:t>de Potencia.</a:t>
            </a:r>
          </a:p>
          <a:p>
            <a:r>
              <a:rPr lang="es-ES" sz="2000" dirty="0"/>
              <a:t> </a:t>
            </a:r>
            <a:r>
              <a:rPr lang="es-ES" sz="2000" dirty="0" smtClean="0"/>
              <a:t>           Tiristor </a:t>
            </a:r>
            <a:r>
              <a:rPr lang="es-ES" sz="2000" dirty="0"/>
              <a:t>(</a:t>
            </a:r>
            <a:r>
              <a:rPr lang="es-ES" sz="2000" dirty="0" smtClean="0"/>
              <a:t>SCR).</a:t>
            </a:r>
          </a:p>
          <a:p>
            <a:r>
              <a:rPr lang="es-ES" sz="2000" dirty="0"/>
              <a:t> </a:t>
            </a:r>
            <a:r>
              <a:rPr lang="es-ES" sz="2000" dirty="0" smtClean="0"/>
              <a:t>           GTO.</a:t>
            </a:r>
          </a:p>
          <a:p>
            <a:r>
              <a:rPr lang="es-ES" sz="2000" dirty="0"/>
              <a:t> </a:t>
            </a:r>
            <a:r>
              <a:rPr lang="es-ES" sz="2000" dirty="0" smtClean="0"/>
              <a:t>           </a:t>
            </a:r>
            <a:r>
              <a:rPr lang="es-ES" sz="2000" dirty="0" err="1" smtClean="0"/>
              <a:t>Mosfet</a:t>
            </a:r>
            <a:r>
              <a:rPr lang="es-ES" sz="2000" dirty="0" smtClean="0"/>
              <a:t> </a:t>
            </a:r>
            <a:r>
              <a:rPr lang="es-ES" sz="2000" dirty="0"/>
              <a:t>de </a:t>
            </a:r>
            <a:r>
              <a:rPr lang="es-ES" sz="2000" dirty="0" smtClean="0"/>
              <a:t>Potencia.</a:t>
            </a:r>
          </a:p>
          <a:p>
            <a:r>
              <a:rPr lang="es-ES" sz="2000" dirty="0"/>
              <a:t> </a:t>
            </a:r>
            <a:r>
              <a:rPr lang="es-ES" sz="2000" dirty="0" smtClean="0"/>
              <a:t>           IGBT.</a:t>
            </a:r>
          </a:p>
          <a:p>
            <a:endParaRPr lang="es-ES" sz="2000" dirty="0"/>
          </a:p>
          <a:p>
            <a:r>
              <a:rPr lang="es-ES" sz="2000" dirty="0"/>
              <a:t>- </a:t>
            </a:r>
            <a:r>
              <a:rPr lang="es-ES" sz="2000" dirty="0" smtClean="0"/>
              <a:t>    Dispositivos </a:t>
            </a:r>
            <a:r>
              <a:rPr lang="es-ES" sz="2000" dirty="0"/>
              <a:t>de banda ancha prohibida (WBG</a:t>
            </a:r>
            <a:r>
              <a:rPr lang="es-ES" sz="2000" dirty="0" smtClean="0"/>
              <a:t>).</a:t>
            </a:r>
            <a:endParaRPr lang="es-ES" sz="20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410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</a:t>
            </a:fld>
            <a:endParaRPr lang="es-ES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57200" y="332656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dirty="0"/>
              <a:t>Diodo de Potencia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96752"/>
            <a:ext cx="6286500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987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/>
          </a:bodyPr>
          <a:lstStyle/>
          <a:p>
            <a:r>
              <a:rPr lang="es-AR" sz="3600" dirty="0"/>
              <a:t>Diodo de Potencia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</a:t>
            </a:fld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2"/>
            <a:ext cx="5040560" cy="387384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686774" y="4725144"/>
            <a:ext cx="8133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/>
              <a:t> - En </a:t>
            </a:r>
            <a:r>
              <a:rPr lang="es-AR" sz="1600" dirty="0"/>
              <a:t>niveles bajos de </a:t>
            </a:r>
            <a:r>
              <a:rPr lang="es-AR" sz="1600" dirty="0" err="1"/>
              <a:t>inyeccion</a:t>
            </a:r>
            <a:r>
              <a:rPr lang="es-AR" sz="1600" dirty="0"/>
              <a:t>, </a:t>
            </a:r>
            <a:r>
              <a:rPr lang="es-AR" sz="1600" dirty="0" err="1"/>
              <a:t>δ</a:t>
            </a:r>
            <a:r>
              <a:rPr lang="es-AR" sz="1600" i="1" dirty="0" err="1"/>
              <a:t>p</a:t>
            </a:r>
            <a:r>
              <a:rPr lang="es-AR" sz="1600" i="1" dirty="0"/>
              <a:t> </a:t>
            </a:r>
            <a:r>
              <a:rPr lang="es-AR" sz="1600" dirty="0"/>
              <a:t>&lt;&lt; </a:t>
            </a:r>
            <a:r>
              <a:rPr lang="es-AR" sz="1600" i="1" dirty="0" err="1"/>
              <a:t>n</a:t>
            </a:r>
            <a:r>
              <a:rPr lang="es-AR" sz="1600" i="1" baseline="-25000" dirty="0" err="1"/>
              <a:t>no</a:t>
            </a:r>
            <a:r>
              <a:rPr lang="es-AR" sz="1600" dirty="0"/>
              <a:t>, los electrones de equilibrio </a:t>
            </a:r>
            <a:r>
              <a:rPr lang="es-AR" sz="1600" dirty="0" err="1"/>
              <a:t>termico</a:t>
            </a:r>
            <a:r>
              <a:rPr lang="es-AR" sz="1600" dirty="0"/>
              <a:t> </a:t>
            </a:r>
            <a:r>
              <a:rPr lang="es-AR" sz="1600" i="1" dirty="0" err="1"/>
              <a:t>n</a:t>
            </a:r>
            <a:r>
              <a:rPr lang="es-AR" sz="1600" i="1" baseline="-25000" dirty="0" err="1"/>
              <a:t>no</a:t>
            </a:r>
            <a:r>
              <a:rPr lang="es-AR" sz="1600" i="1" dirty="0"/>
              <a:t> </a:t>
            </a:r>
            <a:r>
              <a:rPr lang="es-AR" sz="1600" dirty="0"/>
              <a:t>neutralizan</a:t>
            </a:r>
          </a:p>
          <a:p>
            <a:r>
              <a:rPr lang="es-AR" sz="1600" dirty="0"/>
              <a:t> sin dificultad la carga de espacio de los huecos.</a:t>
            </a:r>
          </a:p>
          <a:p>
            <a:r>
              <a:rPr lang="es-AR" sz="1600" dirty="0" smtClean="0"/>
              <a:t>- En </a:t>
            </a:r>
            <a:r>
              <a:rPr lang="es-AR" sz="1600" dirty="0"/>
              <a:t>niveles altos de </a:t>
            </a:r>
            <a:r>
              <a:rPr lang="es-AR" sz="1600" dirty="0" err="1"/>
              <a:t>inyeccion</a:t>
            </a:r>
            <a:r>
              <a:rPr lang="es-AR" sz="1600" dirty="0"/>
              <a:t> altos, </a:t>
            </a:r>
            <a:r>
              <a:rPr lang="es-AR" sz="1600" dirty="0" err="1"/>
              <a:t>δ</a:t>
            </a:r>
            <a:r>
              <a:rPr lang="es-AR" sz="1600" i="1" dirty="0" err="1"/>
              <a:t>p</a:t>
            </a:r>
            <a:r>
              <a:rPr lang="es-AR" sz="1600" i="1" dirty="0"/>
              <a:t> </a:t>
            </a:r>
            <a:r>
              <a:rPr lang="es-AR" sz="1600" dirty="0"/>
              <a:t>&gt; </a:t>
            </a:r>
            <a:r>
              <a:rPr lang="es-AR" sz="1600" i="1" dirty="0" err="1"/>
              <a:t>n</a:t>
            </a:r>
            <a:r>
              <a:rPr lang="es-AR" sz="1600" i="1" baseline="-25000" dirty="0" err="1"/>
              <a:t>no</a:t>
            </a:r>
            <a:r>
              <a:rPr lang="es-AR" sz="1600" dirty="0"/>
              <a:t>, la carga de espacio de huecos atrae electrones </a:t>
            </a:r>
          </a:p>
          <a:p>
            <a:r>
              <a:rPr lang="es-AR" sz="1600" dirty="0"/>
              <a:t>de la </a:t>
            </a:r>
            <a:r>
              <a:rPr lang="es-AR" sz="1600" dirty="0" err="1"/>
              <a:t>region</a:t>
            </a:r>
            <a:r>
              <a:rPr lang="es-AR" sz="1600" dirty="0"/>
              <a:t> </a:t>
            </a:r>
            <a:r>
              <a:rPr lang="es-AR" sz="1600" i="1" dirty="0"/>
              <a:t>n+</a:t>
            </a:r>
            <a:r>
              <a:rPr lang="es-AR" sz="1600" dirty="0"/>
              <a:t> a la </a:t>
            </a:r>
            <a:r>
              <a:rPr lang="es-AR" sz="1600" dirty="0" err="1"/>
              <a:t>region</a:t>
            </a:r>
            <a:r>
              <a:rPr lang="es-AR" sz="1600" dirty="0"/>
              <a:t> de arrastre. </a:t>
            </a:r>
          </a:p>
          <a:p>
            <a:r>
              <a:rPr lang="es-AR" sz="1600" dirty="0"/>
              <a:t>Esto lleva a la </a:t>
            </a:r>
            <a:r>
              <a:rPr lang="es-AR" sz="1600" dirty="0" err="1"/>
              <a:t>inyeccion</a:t>
            </a:r>
            <a:r>
              <a:rPr lang="es-AR" sz="1600" dirty="0"/>
              <a:t> de electrones a </a:t>
            </a:r>
            <a:r>
              <a:rPr lang="es-AR" sz="1600" dirty="0" err="1"/>
              <a:t>traves</a:t>
            </a:r>
            <a:r>
              <a:rPr lang="es-AR" sz="1600" dirty="0"/>
              <a:t> de la </a:t>
            </a:r>
            <a:r>
              <a:rPr lang="es-AR" sz="1600" dirty="0" err="1"/>
              <a:t>interconexion</a:t>
            </a:r>
            <a:r>
              <a:rPr lang="es-AR" sz="1600" dirty="0"/>
              <a:t> </a:t>
            </a:r>
            <a:r>
              <a:rPr lang="es-AR" sz="1600" i="1" dirty="0" err="1"/>
              <a:t>n+n</a:t>
            </a:r>
            <a:r>
              <a:rPr lang="es-AR" sz="1600" i="1" dirty="0"/>
              <a:t>-</a:t>
            </a:r>
            <a:r>
              <a:rPr lang="es-AR" sz="1600" dirty="0"/>
              <a:t> a la </a:t>
            </a:r>
            <a:r>
              <a:rPr lang="es-AR" sz="1600" dirty="0" err="1"/>
              <a:t>region</a:t>
            </a:r>
            <a:r>
              <a:rPr lang="es-AR" sz="1600" dirty="0"/>
              <a:t> de </a:t>
            </a:r>
          </a:p>
          <a:p>
            <a:r>
              <a:rPr lang="es-AR" sz="1600" dirty="0"/>
              <a:t>arrastre con densidades </a:t>
            </a:r>
            <a:r>
              <a:rPr lang="el-GR" sz="1600" dirty="0"/>
              <a:t>δ</a:t>
            </a:r>
            <a:r>
              <a:rPr lang="es-AR" sz="1600" i="1" dirty="0"/>
              <a:t>n=</a:t>
            </a:r>
            <a:r>
              <a:rPr lang="el-GR" sz="1600" dirty="0"/>
              <a:t>δ</a:t>
            </a:r>
            <a:r>
              <a:rPr lang="es-AR" sz="1600" i="1" dirty="0"/>
              <a:t>p</a:t>
            </a:r>
            <a:r>
              <a:rPr lang="es-AR" sz="1600" dirty="0"/>
              <a:t>. </a:t>
            </a:r>
            <a:r>
              <a:rPr lang="es-AR" sz="1600" b="1" dirty="0"/>
              <a:t>(Inyección doble)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262" y="2435288"/>
            <a:ext cx="1279780" cy="31994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93" y="2931089"/>
            <a:ext cx="2117917" cy="5165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CuadroTexto 9"/>
          <p:cNvSpPr txBox="1"/>
          <p:nvPr/>
        </p:nvSpPr>
        <p:spPr>
          <a:xfrm>
            <a:off x="5076056" y="2127115"/>
            <a:ext cx="2082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Para grandes corrientes J</a:t>
            </a:r>
            <a:r>
              <a:rPr lang="es-AR" sz="1400" baseline="-25000" dirty="0"/>
              <a:t>F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331640" y="620688"/>
            <a:ext cx="13681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>
                <a:solidFill>
                  <a:srgbClr val="00B050"/>
                </a:solidFill>
              </a:rPr>
              <a:t>Inyección de huecos en estado activo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" name="10 Elipse"/>
          <p:cNvSpPr/>
          <p:nvPr/>
        </p:nvSpPr>
        <p:spPr>
          <a:xfrm>
            <a:off x="2555776" y="1556792"/>
            <a:ext cx="216024" cy="216024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750738"/>
            <a:ext cx="1694384" cy="1382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4788024" y="674112"/>
            <a:ext cx="17943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>
                <a:solidFill>
                  <a:srgbClr val="FF0000"/>
                </a:solidFill>
              </a:rPr>
              <a:t>Inyección de electrones en estado activo para </a:t>
            </a:r>
            <a:r>
              <a:rPr lang="es-AR" sz="1600" dirty="0" err="1">
                <a:solidFill>
                  <a:srgbClr val="FF0000"/>
                </a:solidFill>
              </a:rPr>
              <a:t>δ</a:t>
            </a:r>
            <a:r>
              <a:rPr lang="es-AR" sz="1600" i="1" dirty="0" err="1">
                <a:solidFill>
                  <a:srgbClr val="FF0000"/>
                </a:solidFill>
              </a:rPr>
              <a:t>p</a:t>
            </a:r>
            <a:r>
              <a:rPr lang="es-AR" sz="1600" i="1" dirty="0">
                <a:solidFill>
                  <a:srgbClr val="FF0000"/>
                </a:solidFill>
              </a:rPr>
              <a:t> </a:t>
            </a:r>
            <a:r>
              <a:rPr lang="es-AR" sz="1600" dirty="0">
                <a:solidFill>
                  <a:srgbClr val="FF0000"/>
                </a:solidFill>
              </a:rPr>
              <a:t>&gt; </a:t>
            </a:r>
            <a:r>
              <a:rPr lang="es-AR" sz="1600" i="1" dirty="0" err="1">
                <a:solidFill>
                  <a:srgbClr val="FF0000"/>
                </a:solidFill>
              </a:rPr>
              <a:t>n</a:t>
            </a:r>
            <a:r>
              <a:rPr lang="es-AR" sz="1600" i="1" baseline="-25000" dirty="0" err="1">
                <a:solidFill>
                  <a:srgbClr val="FF0000"/>
                </a:solidFill>
              </a:rPr>
              <a:t>no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4" name="13 Elipse"/>
          <p:cNvSpPr/>
          <p:nvPr/>
        </p:nvSpPr>
        <p:spPr>
          <a:xfrm>
            <a:off x="4283968" y="1412776"/>
            <a:ext cx="216024" cy="14401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0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3264" y="274638"/>
            <a:ext cx="6635080" cy="562074"/>
          </a:xfrm>
        </p:spPr>
        <p:txBody>
          <a:bodyPr>
            <a:normAutofit fontScale="90000"/>
          </a:bodyPr>
          <a:lstStyle/>
          <a:p>
            <a:r>
              <a:rPr lang="es-AR" sz="2400" dirty="0" smtClean="0">
                <a:latin typeface="Verdana" pitchFamily="34" charset="0"/>
                <a:ea typeface="Verdana" pitchFamily="34" charset="0"/>
              </a:rPr>
              <a:t>Recombinación en Dispositivos de Potencia</a:t>
            </a:r>
            <a:endParaRPr lang="es-AR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4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70" y="908720"/>
            <a:ext cx="1286428" cy="410562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2571996" y="980728"/>
            <a:ext cx="45672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latin typeface="Verdana" pitchFamily="34" charset="0"/>
                <a:ea typeface="Verdana" pitchFamily="34" charset="0"/>
              </a:rPr>
              <a:t>Ley de acción de masa ó principio de equilibrio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detallado</a:t>
            </a:r>
            <a:endParaRPr lang="es-AR" sz="1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46" y="1556792"/>
            <a:ext cx="2127802" cy="38923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823" y="3140969"/>
            <a:ext cx="1373516" cy="61920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683568" y="3789040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El τ </a:t>
            </a:r>
            <a:r>
              <a:rPr lang="es-AR" sz="12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no es una </a:t>
            </a:r>
            <a:r>
              <a:rPr lang="es-AR" sz="1200" dirty="0" err="1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cte</a:t>
            </a:r>
            <a:r>
              <a:rPr lang="es-AR" sz="12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 para dispositivos </a:t>
            </a:r>
            <a:r>
              <a:rPr lang="es-AR" sz="1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de portadores </a:t>
            </a:r>
            <a:r>
              <a:rPr lang="es-AR" sz="12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minoritarios de </a:t>
            </a:r>
            <a:r>
              <a:rPr lang="es-AR" sz="1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potencia TBJ</a:t>
            </a:r>
            <a:r>
              <a:rPr lang="es-AR" sz="12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, Tiristor, </a:t>
            </a:r>
            <a:r>
              <a:rPr lang="es-AR" sz="1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GTO. </a:t>
            </a:r>
          </a:p>
          <a:p>
            <a:r>
              <a:rPr lang="es-AR" sz="1200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El τ se incrementa al aumentar la temperatura.</a:t>
            </a:r>
            <a:endParaRPr lang="es-AR" sz="1200" dirty="0">
              <a:solidFill>
                <a:srgbClr val="00B050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665985" y="4937853"/>
            <a:ext cx="77224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latin typeface="Verdana" pitchFamily="34" charset="0"/>
                <a:ea typeface="Verdana" pitchFamily="34" charset="0"/>
              </a:rPr>
              <a:t>Valores mayores del tiempo de vida </a:t>
            </a:r>
            <a:r>
              <a:rPr lang="el-GR" sz="1200" dirty="0" smtClean="0">
                <a:latin typeface="Verdana" pitchFamily="34" charset="0"/>
                <a:ea typeface="Verdana" pitchFamily="34" charset="0"/>
              </a:rPr>
              <a:t>τ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, </a:t>
            </a:r>
            <a:r>
              <a:rPr lang="es-AR" sz="1200" i="1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reducen </a:t>
            </a:r>
            <a:r>
              <a:rPr lang="es-AR" sz="1200" i="1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las perdidas de los dispositivos en estado </a:t>
            </a:r>
            <a:r>
              <a:rPr lang="es-AR" sz="1200" i="1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activo,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s-AR" sz="1200" b="1" dirty="0" smtClean="0">
                <a:latin typeface="Verdana" pitchFamily="34" charset="0"/>
                <a:ea typeface="Verdana" pitchFamily="34" charset="0"/>
              </a:rPr>
              <a:t>pero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también 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tienden a </a:t>
            </a:r>
            <a:r>
              <a:rPr lang="es-AR" sz="1200" i="1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desacelerar la transición de conmutación</a:t>
            </a:r>
            <a:r>
              <a:rPr lang="es-AR" sz="1200" i="1" dirty="0">
                <a:latin typeface="Verdana" pitchFamily="34" charset="0"/>
                <a:ea typeface="Verdana" pitchFamily="34" charset="0"/>
              </a:rPr>
              <a:t> de encendido a apagado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 y viceversa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.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671454" y="4437112"/>
            <a:ext cx="620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i="1" dirty="0" smtClean="0">
                <a:latin typeface="Verdana" pitchFamily="34" charset="0"/>
                <a:ea typeface="Verdana" pitchFamily="34" charset="0"/>
              </a:rPr>
              <a:t>Para </a:t>
            </a:r>
            <a:r>
              <a:rPr lang="es-AR" sz="1200" i="1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altas densidades (</a:t>
            </a:r>
            <a:r>
              <a:rPr lang="el-GR" sz="1200" i="1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δ</a:t>
            </a:r>
            <a:r>
              <a:rPr lang="es-AR" sz="1200" i="1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n)</a:t>
            </a:r>
            <a:r>
              <a:rPr lang="es-AR" sz="1200" i="1" dirty="0" smtClean="0">
                <a:latin typeface="Verdana" pitchFamily="34" charset="0"/>
                <a:ea typeface="Verdana" pitchFamily="34" charset="0"/>
              </a:rPr>
              <a:t> cercanas a </a:t>
            </a:r>
            <a:r>
              <a:rPr lang="es-AR" sz="1200" i="1" dirty="0" err="1" smtClean="0">
                <a:latin typeface="Verdana" pitchFamily="34" charset="0"/>
                <a:ea typeface="Verdana" pitchFamily="34" charset="0"/>
              </a:rPr>
              <a:t>nb</a:t>
            </a:r>
            <a:r>
              <a:rPr lang="es-AR" sz="1200" i="1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s-AR" sz="1200" i="1" dirty="0" err="1">
                <a:latin typeface="Verdana" pitchFamily="34" charset="0"/>
                <a:ea typeface="Verdana" pitchFamily="34" charset="0"/>
              </a:rPr>
              <a:t>aprox</a:t>
            </a:r>
            <a:r>
              <a:rPr lang="es-AR" sz="1200" i="1" dirty="0">
                <a:latin typeface="Verdana" pitchFamily="34" charset="0"/>
                <a:ea typeface="Verdana" pitchFamily="34" charset="0"/>
              </a:rPr>
              <a:t> 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10</a:t>
            </a:r>
            <a:r>
              <a:rPr lang="es-AR" sz="1200" baseline="30000" dirty="0">
                <a:latin typeface="Verdana" pitchFamily="34" charset="0"/>
                <a:ea typeface="Verdana" pitchFamily="34" charset="0"/>
              </a:rPr>
              <a:t>16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cm</a:t>
            </a:r>
            <a:r>
              <a:rPr lang="es-AR" sz="1200" baseline="30000" dirty="0" smtClean="0">
                <a:latin typeface="Verdana" pitchFamily="34" charset="0"/>
                <a:ea typeface="Verdana" pitchFamily="34" charset="0"/>
              </a:rPr>
              <a:t>-3,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s-AR" sz="1200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el </a:t>
            </a:r>
            <a:r>
              <a:rPr lang="el-GR" sz="1200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τ </a:t>
            </a:r>
            <a:r>
              <a:rPr lang="es-AR" sz="1200" dirty="0" smtClean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 disminuye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(por </a:t>
            </a:r>
            <a:r>
              <a:rPr lang="es-AR" sz="1200" dirty="0" err="1" smtClean="0">
                <a:latin typeface="Verdana" pitchFamily="34" charset="0"/>
                <a:ea typeface="Verdana" pitchFamily="34" charset="0"/>
              </a:rPr>
              <a:t>Auger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), e incrementa las pérdidas en estado activo de los dispositivos.</a:t>
            </a:r>
          </a:p>
        </p:txBody>
      </p:sp>
      <p:sp>
        <p:nvSpPr>
          <p:cNvPr id="14" name="CuadroTexto 7"/>
          <p:cNvSpPr txBox="1"/>
          <p:nvPr/>
        </p:nvSpPr>
        <p:spPr>
          <a:xfrm>
            <a:off x="3359013" y="1633872"/>
            <a:ext cx="4797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latin typeface="Verdana" pitchFamily="34" charset="0"/>
                <a:ea typeface="Verdana" pitchFamily="34" charset="0"/>
              </a:rPr>
              <a:t>Condición de neutralidad de carga en el material extrínseco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1499521" y="2316261"/>
            <a:ext cx="2039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latin typeface="Verdana" pitchFamily="34" charset="0"/>
                <a:ea typeface="Verdana" pitchFamily="34" charset="0"/>
              </a:rPr>
              <a:t>Para un material tipo P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: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3914033" y="2204864"/>
            <a:ext cx="2386159" cy="582268"/>
            <a:chOff x="3914033" y="2492896"/>
            <a:chExt cx="2386159" cy="582268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14033" y="2492896"/>
              <a:ext cx="2386159" cy="582268"/>
            </a:xfrm>
            <a:prstGeom prst="rect">
              <a:avLst/>
            </a:prstGeom>
          </p:spPr>
        </p:pic>
        <p:sp>
          <p:nvSpPr>
            <p:cNvPr id="16" name="15 Elipse"/>
            <p:cNvSpPr/>
            <p:nvPr/>
          </p:nvSpPr>
          <p:spPr>
            <a:xfrm>
              <a:off x="3916710" y="2636912"/>
              <a:ext cx="367258" cy="36004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17" name="16 Elipse"/>
            <p:cNvSpPr/>
            <p:nvPr/>
          </p:nvSpPr>
          <p:spPr>
            <a:xfrm>
              <a:off x="4604395" y="2499235"/>
              <a:ext cx="183629" cy="18002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Verdana" pitchFamily="34" charset="0"/>
                <a:ea typeface="Verdana" pitchFamily="34" charset="0"/>
              </a:endParaRPr>
            </a:p>
          </p:txBody>
        </p:sp>
      </p:grpSp>
      <p:sp>
        <p:nvSpPr>
          <p:cNvPr id="18" name="17 CuadroTexto"/>
          <p:cNvSpPr txBox="1"/>
          <p:nvPr/>
        </p:nvSpPr>
        <p:spPr>
          <a:xfrm>
            <a:off x="4409483" y="3212976"/>
            <a:ext cx="3422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 err="1">
                <a:latin typeface="Verdana" pitchFamily="34" charset="0"/>
                <a:ea typeface="Verdana" pitchFamily="34" charset="0"/>
              </a:rPr>
              <a:t>δn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 densidad del portador libre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excedente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 </a:t>
            </a:r>
            <a:endParaRPr lang="es-AR" sz="16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4388658" y="3567689"/>
            <a:ext cx="43590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>
                <a:latin typeface="Verdana" pitchFamily="34" charset="0"/>
                <a:ea typeface="Verdana" pitchFamily="34" charset="0"/>
              </a:rPr>
              <a:t>τ</a:t>
            </a:r>
            <a:r>
              <a:rPr lang="es-AR" sz="1200" dirty="0">
                <a:latin typeface="Verdana" pitchFamily="34" charset="0"/>
                <a:ea typeface="Verdana" pitchFamily="34" charset="0"/>
              </a:rPr>
              <a:t> tiempo de vida del portador 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excedente ó minoritario</a:t>
            </a:r>
            <a:endParaRPr lang="es-AR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83568" y="2833191"/>
            <a:ext cx="5163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Ec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. de velocidad de generación recombinación térmica</a:t>
            </a:r>
            <a:r>
              <a:rPr lang="es-AR" sz="1200" dirty="0" smtClean="0">
                <a:latin typeface="Verdana" pitchFamily="34" charset="0"/>
                <a:ea typeface="Verdana" pitchFamily="34" charset="0"/>
              </a:rPr>
              <a:t>:</a:t>
            </a:r>
            <a:endParaRPr lang="en-US" sz="16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22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792" y="4437112"/>
            <a:ext cx="13716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5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6" grpId="0"/>
      <p:bldP spid="9" grpId="0"/>
      <p:bldP spid="14" grpId="0"/>
      <p:bldP spid="15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562074"/>
          </a:xfrm>
        </p:spPr>
        <p:txBody>
          <a:bodyPr>
            <a:normAutofit fontScale="90000"/>
          </a:bodyPr>
          <a:lstStyle/>
          <a:p>
            <a:r>
              <a:rPr lang="es-AR" sz="3600" dirty="0"/>
              <a:t>Tiristor - Circuito Equivalente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5</a:t>
            </a:fld>
            <a:endParaRPr lang="es-ES"/>
          </a:p>
        </p:txBody>
      </p:sp>
      <p:pic>
        <p:nvPicPr>
          <p:cNvPr id="13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01" y="1462783"/>
            <a:ext cx="2425961" cy="937821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367" y="1164702"/>
            <a:ext cx="5216081" cy="2663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49" y="3680749"/>
            <a:ext cx="2573929" cy="199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501008"/>
            <a:ext cx="1515686" cy="243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134" y="4077072"/>
            <a:ext cx="3334298" cy="118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017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3724984" y="6381328"/>
            <a:ext cx="466344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solidFill>
                  <a:schemeClr val="bg1"/>
                </a:solidFill>
              </a:rPr>
              <a:t>Física Electrónica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4294967295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r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r"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888" y="4201872"/>
            <a:ext cx="5175848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052736"/>
            <a:ext cx="5751912" cy="282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457200" y="274638"/>
            <a:ext cx="7931224" cy="56207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252525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s-AR" dirty="0" err="1" smtClean="0"/>
              <a:t>Triac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5141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44624"/>
            <a:ext cx="7732835" cy="927344"/>
          </a:xfrm>
        </p:spPr>
        <p:txBody>
          <a:bodyPr>
            <a:normAutofit/>
          </a:bodyPr>
          <a:lstStyle/>
          <a:p>
            <a:r>
              <a:rPr lang="es-AR" sz="2800" dirty="0" smtClean="0"/>
              <a:t>Circuitos de aplicación de control de fase</a:t>
            </a:r>
            <a:endParaRPr lang="en-US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3635896" y="6381328"/>
            <a:ext cx="466344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solidFill>
                  <a:schemeClr val="bg1"/>
                </a:solidFill>
              </a:rPr>
              <a:t>Física Electrónica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294967295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r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r"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496990" y="2253007"/>
            <a:ext cx="3384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 smtClean="0"/>
              <a:t>Tiristor: Es mas frecuente usarlo en aplicaciones de mediana, alta y muy alta potencia. </a:t>
            </a:r>
            <a:endParaRPr lang="en-US" sz="16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4573008" y="3913844"/>
            <a:ext cx="3198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 err="1" smtClean="0"/>
              <a:t>Triac</a:t>
            </a:r>
            <a:r>
              <a:rPr lang="es-AR" sz="1600" dirty="0" smtClean="0"/>
              <a:t>: Es mas frecuente usarlo en aplicaciones de baja potencia.</a:t>
            </a:r>
            <a:endParaRPr lang="en-US" sz="1600" dirty="0"/>
          </a:p>
        </p:txBody>
      </p:sp>
      <p:sp>
        <p:nvSpPr>
          <p:cNvPr id="9" name="AutoShape 2" descr="Graph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1" name="AutoShape 4" descr="Graph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4" name="AutoShape 6" descr="Graph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003" y="620688"/>
            <a:ext cx="35623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46" y="4452169"/>
            <a:ext cx="336232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990" y="3163622"/>
            <a:ext cx="2682254" cy="3013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90" y="634840"/>
            <a:ext cx="2718120" cy="3057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82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s-AR" sz="3600" dirty="0"/>
              <a:t>Tiristor Estructura</a:t>
            </a:r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8</a:t>
            </a:fld>
            <a:endParaRPr lang="es-E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908719"/>
            <a:ext cx="4889458" cy="2922541"/>
          </a:xfrm>
          <a:prstGeom prst="rect">
            <a:avLst/>
          </a:prstGeom>
        </p:spPr>
      </p:pic>
      <p:grpSp>
        <p:nvGrpSpPr>
          <p:cNvPr id="14" name="13 Grupo"/>
          <p:cNvGrpSpPr/>
          <p:nvPr/>
        </p:nvGrpSpPr>
        <p:grpSpPr>
          <a:xfrm>
            <a:off x="2555776" y="3304663"/>
            <a:ext cx="4305214" cy="2867794"/>
            <a:chOff x="2673800" y="3503499"/>
            <a:chExt cx="4305214" cy="2867794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3800" y="3503499"/>
              <a:ext cx="3963169" cy="2867794"/>
            </a:xfrm>
            <a:prstGeom prst="rect">
              <a:avLst/>
            </a:prstGeom>
          </p:spPr>
        </p:pic>
        <p:sp>
          <p:nvSpPr>
            <p:cNvPr id="9" name="Elipse 8"/>
            <p:cNvSpPr/>
            <p:nvPr/>
          </p:nvSpPr>
          <p:spPr>
            <a:xfrm rot="256033">
              <a:off x="4407586" y="5313492"/>
              <a:ext cx="1872208" cy="220112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5148064" y="4744299"/>
              <a:ext cx="18309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100" dirty="0"/>
                <a:t>Zona de Resistencia negativa</a:t>
              </a:r>
            </a:p>
          </p:txBody>
        </p:sp>
        <p:cxnSp>
          <p:nvCxnSpPr>
            <p:cNvPr id="12" name="Conector recto de flecha 11"/>
            <p:cNvCxnSpPr>
              <a:stCxn id="10" idx="2"/>
            </p:cNvCxnSpPr>
            <p:nvPr/>
          </p:nvCxnSpPr>
          <p:spPr>
            <a:xfrm flipH="1">
              <a:off x="5487203" y="5005909"/>
              <a:ext cx="576336" cy="2391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19394" y="2112525"/>
            <a:ext cx="1914161" cy="76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7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8705" y="260648"/>
            <a:ext cx="3239279" cy="1800200"/>
          </a:xfrm>
        </p:spPr>
        <p:txBody>
          <a:bodyPr>
            <a:normAutofit/>
          </a:bodyPr>
          <a:lstStyle/>
          <a:p>
            <a:pPr algn="l"/>
            <a:r>
              <a:rPr lang="es-AR" sz="2800" b="1" dirty="0" smtClean="0"/>
              <a:t>Transición del </a:t>
            </a:r>
            <a:br>
              <a:rPr lang="es-AR" sz="2800" b="1" dirty="0" smtClean="0"/>
            </a:br>
            <a:r>
              <a:rPr lang="es-AR" sz="2800" b="1" dirty="0" smtClean="0"/>
              <a:t>Estado de Equilibrio al Estado </a:t>
            </a:r>
            <a:r>
              <a:rPr lang="es-AR" sz="2800" b="1" dirty="0"/>
              <a:t>de Bloqueo Directo del Tiristor</a:t>
            </a:r>
            <a:endParaRPr lang="en-US" sz="28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Fisica Electrónica - Ing Eduardo D. Baez - 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9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82976"/>
            <a:ext cx="3274318" cy="6119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06215"/>
            <a:ext cx="3529473" cy="276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Elipse"/>
          <p:cNvSpPr/>
          <p:nvPr/>
        </p:nvSpPr>
        <p:spPr>
          <a:xfrm>
            <a:off x="5004048" y="2132856"/>
            <a:ext cx="288032" cy="21602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 Elipse"/>
          <p:cNvSpPr/>
          <p:nvPr/>
        </p:nvSpPr>
        <p:spPr>
          <a:xfrm>
            <a:off x="7668344" y="2132856"/>
            <a:ext cx="288032" cy="21602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8 Elipse"/>
          <p:cNvSpPr/>
          <p:nvPr/>
        </p:nvSpPr>
        <p:spPr>
          <a:xfrm>
            <a:off x="4995872" y="3356992"/>
            <a:ext cx="288032" cy="21602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9 Elipse"/>
          <p:cNvSpPr/>
          <p:nvPr/>
        </p:nvSpPr>
        <p:spPr>
          <a:xfrm>
            <a:off x="7677824" y="3717032"/>
            <a:ext cx="288032" cy="21602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6156176" y="3278223"/>
            <a:ext cx="576064" cy="366801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5724128" y="871059"/>
            <a:ext cx="0" cy="510024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6012160" y="863660"/>
            <a:ext cx="0" cy="5157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7164288" y="836712"/>
            <a:ext cx="0" cy="510764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99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404664"/>
            <a:ext cx="3744416" cy="1152128"/>
          </a:xfrm>
        </p:spPr>
        <p:txBody>
          <a:bodyPr>
            <a:normAutofit/>
          </a:bodyPr>
          <a:lstStyle/>
          <a:p>
            <a:r>
              <a:rPr lang="es-AR" sz="3600" dirty="0"/>
              <a:t>Encendido del Tiristor</a:t>
            </a:r>
            <a:endParaRPr lang="en-US" sz="36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Fisica Electrónica - Ing Eduardo D. Baez - 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10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871059"/>
            <a:ext cx="3368261" cy="531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627826"/>
            <a:ext cx="3096344" cy="136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45024"/>
            <a:ext cx="360997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707056" y="494328"/>
            <a:ext cx="367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Bloqueo directo a conducción directa</a:t>
            </a:r>
            <a:endParaRPr lang="en-US" dirty="0"/>
          </a:p>
        </p:txBody>
      </p:sp>
      <p:sp>
        <p:nvSpPr>
          <p:cNvPr id="8" name="7 Elipse"/>
          <p:cNvSpPr/>
          <p:nvPr/>
        </p:nvSpPr>
        <p:spPr>
          <a:xfrm>
            <a:off x="5868144" y="2564904"/>
            <a:ext cx="288032" cy="1080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9 CuadroTexto"/>
          <p:cNvSpPr txBox="1"/>
          <p:nvPr/>
        </p:nvSpPr>
        <p:spPr>
          <a:xfrm>
            <a:off x="1833357" y="1588150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 smtClean="0">
                <a:solidFill>
                  <a:srgbClr val="00B050"/>
                </a:solidFill>
              </a:rPr>
              <a:t>0,8 a 1v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14" name="13 Grupo"/>
          <p:cNvGrpSpPr/>
          <p:nvPr/>
        </p:nvGrpSpPr>
        <p:grpSpPr>
          <a:xfrm>
            <a:off x="5796136" y="2411015"/>
            <a:ext cx="692393" cy="307777"/>
            <a:chOff x="5796136" y="2411015"/>
            <a:chExt cx="692393" cy="307777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5796136" y="2492896"/>
              <a:ext cx="504056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6215697" y="2411015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b="1" dirty="0" smtClean="0">
                  <a:solidFill>
                    <a:srgbClr val="FF0000"/>
                  </a:solidFill>
                </a:rPr>
                <a:t>E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15 Elipse"/>
          <p:cNvSpPr/>
          <p:nvPr/>
        </p:nvSpPr>
        <p:spPr>
          <a:xfrm>
            <a:off x="7164288" y="4638290"/>
            <a:ext cx="576064" cy="23087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6352113" y="4307942"/>
            <a:ext cx="576064" cy="417202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6522720" y="4856480"/>
            <a:ext cx="30480" cy="71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>
            <a:off x="5724128" y="4581128"/>
            <a:ext cx="404361" cy="72008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Elipse"/>
          <p:cNvSpPr/>
          <p:nvPr/>
        </p:nvSpPr>
        <p:spPr>
          <a:xfrm>
            <a:off x="5508104" y="2825316"/>
            <a:ext cx="288032" cy="1080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26 Elipse"/>
          <p:cNvSpPr/>
          <p:nvPr/>
        </p:nvSpPr>
        <p:spPr>
          <a:xfrm>
            <a:off x="6740624" y="4897741"/>
            <a:ext cx="576064" cy="187443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Elipse"/>
          <p:cNvSpPr/>
          <p:nvPr/>
        </p:nvSpPr>
        <p:spPr>
          <a:xfrm>
            <a:off x="5868144" y="4365104"/>
            <a:ext cx="288032" cy="1080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CuadroTexto"/>
          <p:cNvSpPr txBox="1"/>
          <p:nvPr/>
        </p:nvSpPr>
        <p:spPr>
          <a:xfrm>
            <a:off x="4792022" y="4662141"/>
            <a:ext cx="1532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 smtClean="0">
                <a:solidFill>
                  <a:srgbClr val="0070C0"/>
                </a:solidFill>
              </a:rPr>
              <a:t>Proceso regenerativo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2339752" y="5805263"/>
            <a:ext cx="33181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 err="1" smtClean="0">
                <a:solidFill>
                  <a:srgbClr val="0070C0"/>
                </a:solidFill>
              </a:rPr>
              <a:t>Vak</a:t>
            </a:r>
            <a:r>
              <a:rPr lang="es-AR" sz="1200" b="1" dirty="0" smtClean="0">
                <a:solidFill>
                  <a:srgbClr val="0070C0"/>
                </a:solidFill>
              </a:rPr>
              <a:t> aprox. 1v; </a:t>
            </a:r>
            <a:r>
              <a:rPr lang="es-AR" sz="1200" b="1" dirty="0" err="1" smtClean="0">
                <a:solidFill>
                  <a:srgbClr val="0070C0"/>
                </a:solidFill>
              </a:rPr>
              <a:t>Iak</a:t>
            </a:r>
            <a:r>
              <a:rPr lang="es-AR" sz="1200" b="1" dirty="0" smtClean="0">
                <a:solidFill>
                  <a:srgbClr val="0070C0"/>
                </a:solidFill>
              </a:rPr>
              <a:t> limitada solo x circuito externo</a:t>
            </a:r>
            <a:endParaRPr lang="en-US" sz="1200" b="1" dirty="0">
              <a:solidFill>
                <a:srgbClr val="0070C0"/>
              </a:solidFill>
            </a:endParaRPr>
          </a:p>
        </p:txBody>
      </p:sp>
      <p:cxnSp>
        <p:nvCxnSpPr>
          <p:cNvPr id="23" name="22 Conector recto"/>
          <p:cNvCxnSpPr/>
          <p:nvPr/>
        </p:nvCxnSpPr>
        <p:spPr>
          <a:xfrm>
            <a:off x="5796136" y="871059"/>
            <a:ext cx="0" cy="510024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6156176" y="863660"/>
            <a:ext cx="0" cy="5157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7164288" y="836712"/>
            <a:ext cx="0" cy="510764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>
            <a:off x="6012160" y="908720"/>
            <a:ext cx="0" cy="43246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flipV="1">
            <a:off x="6948264" y="3285396"/>
            <a:ext cx="0" cy="503644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73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 animBg="1"/>
      <p:bldP spid="16" grpId="0" animBg="1"/>
      <p:bldP spid="26" grpId="0" animBg="1"/>
      <p:bldP spid="27" grpId="0" animBg="1"/>
      <p:bldP spid="29" grpId="0" animBg="1"/>
      <p:bldP spid="28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275623"/>
            <a:ext cx="3538736" cy="1138138"/>
          </a:xfrm>
        </p:spPr>
        <p:txBody>
          <a:bodyPr>
            <a:noAutofit/>
          </a:bodyPr>
          <a:lstStyle/>
          <a:p>
            <a:r>
              <a:rPr lang="es-AR" sz="3200" dirty="0"/>
              <a:t>Apagado y bloqueo inverso del Tiristor</a:t>
            </a:r>
            <a:endParaRPr lang="en-US" sz="32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Fisica Electrónica - Ing Eduardo D. Baez - 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11</a:t>
            </a:fld>
            <a:endParaRPr lang="es-E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5258"/>
            <a:ext cx="2895600" cy="602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39552" y="1503184"/>
            <a:ext cx="4368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Del estado de conducción directa al apagado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60848"/>
            <a:ext cx="333521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971600" y="4005064"/>
            <a:ext cx="38164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es-AR" sz="1400" dirty="0" smtClean="0"/>
              <a:t>En estado de conducción se inyectaron en las regiones n y p concentraciones de portadores que exceden mucho los valores de equilibrio.</a:t>
            </a:r>
          </a:p>
          <a:p>
            <a:pPr marL="171450" indent="-171450" algn="just">
              <a:buFontTx/>
              <a:buChar char="-"/>
            </a:pPr>
            <a:endParaRPr lang="es-AR" sz="1400" dirty="0" smtClean="0"/>
          </a:p>
          <a:p>
            <a:pPr marL="171450" indent="-171450" algn="just">
              <a:buFontTx/>
              <a:buChar char="-"/>
            </a:pPr>
            <a:r>
              <a:rPr lang="es-AR" sz="1400" dirty="0" smtClean="0"/>
              <a:t>Se reduce la </a:t>
            </a:r>
            <a:r>
              <a:rPr lang="es-AR" sz="1400" dirty="0" err="1" smtClean="0"/>
              <a:t>Iak</a:t>
            </a:r>
            <a:r>
              <a:rPr lang="es-AR" sz="1400" dirty="0" smtClean="0"/>
              <a:t> hasta que los portadores se recombinan o salen de zona de deserción, y la tensión inversa </a:t>
            </a:r>
            <a:r>
              <a:rPr lang="es-AR" sz="1400" dirty="0" err="1" smtClean="0"/>
              <a:t>Vak</a:t>
            </a:r>
            <a:r>
              <a:rPr lang="es-AR" sz="1400" dirty="0" smtClean="0"/>
              <a:t> aumenta.</a:t>
            </a:r>
          </a:p>
          <a:p>
            <a:endParaRPr lang="en-US" sz="1200" dirty="0"/>
          </a:p>
        </p:txBody>
      </p:sp>
      <p:sp>
        <p:nvSpPr>
          <p:cNvPr id="9" name="8 Elipse"/>
          <p:cNvSpPr/>
          <p:nvPr/>
        </p:nvSpPr>
        <p:spPr>
          <a:xfrm>
            <a:off x="5580112" y="980728"/>
            <a:ext cx="144016" cy="1842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9 Elipse"/>
          <p:cNvSpPr/>
          <p:nvPr/>
        </p:nvSpPr>
        <p:spPr>
          <a:xfrm>
            <a:off x="7740352" y="980728"/>
            <a:ext cx="144016" cy="1842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 CuadroTexto"/>
          <p:cNvSpPr txBox="1"/>
          <p:nvPr/>
        </p:nvSpPr>
        <p:spPr>
          <a:xfrm>
            <a:off x="7956376" y="934334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 smtClean="0">
                <a:solidFill>
                  <a:srgbClr val="00B050"/>
                </a:solidFill>
              </a:rPr>
              <a:t>Se hace </a:t>
            </a:r>
            <a:r>
              <a:rPr lang="es-AR" sz="1200" b="1" dirty="0" err="1" smtClean="0">
                <a:solidFill>
                  <a:srgbClr val="00B050"/>
                </a:solidFill>
              </a:rPr>
              <a:t>Iak</a:t>
            </a:r>
            <a:r>
              <a:rPr lang="es-AR" sz="1200" b="1" dirty="0" smtClean="0">
                <a:solidFill>
                  <a:srgbClr val="00B050"/>
                </a:solidFill>
              </a:rPr>
              <a:t>=0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5796136" y="3501008"/>
            <a:ext cx="288032" cy="1842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10 CuadroTexto"/>
          <p:cNvSpPr txBox="1"/>
          <p:nvPr/>
        </p:nvSpPr>
        <p:spPr>
          <a:xfrm>
            <a:off x="5004048" y="3440033"/>
            <a:ext cx="812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 smtClean="0">
                <a:solidFill>
                  <a:srgbClr val="00B050"/>
                </a:solidFill>
              </a:rPr>
              <a:t>Pico de J1</a:t>
            </a:r>
            <a:endParaRPr lang="en-US" sz="1200" b="1" dirty="0">
              <a:solidFill>
                <a:srgbClr val="00B050"/>
              </a:solidFill>
            </a:endParaRPr>
          </a:p>
        </p:txBody>
      </p:sp>
      <p:sp>
        <p:nvSpPr>
          <p:cNvPr id="14" name="13 Elipse"/>
          <p:cNvSpPr/>
          <p:nvPr/>
        </p:nvSpPr>
        <p:spPr>
          <a:xfrm>
            <a:off x="6228184" y="3284984"/>
            <a:ext cx="288032" cy="18421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14 CuadroTexto"/>
          <p:cNvSpPr txBox="1"/>
          <p:nvPr/>
        </p:nvSpPr>
        <p:spPr>
          <a:xfrm>
            <a:off x="7286124" y="2829062"/>
            <a:ext cx="1677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b="1" dirty="0" smtClean="0">
                <a:solidFill>
                  <a:srgbClr val="00B050"/>
                </a:solidFill>
              </a:rPr>
              <a:t>- Invirtiendo polaridad se acelera la extracción de portadores. </a:t>
            </a:r>
          </a:p>
          <a:p>
            <a:r>
              <a:rPr lang="es-AR" sz="1200" b="1" dirty="0" smtClean="0">
                <a:solidFill>
                  <a:srgbClr val="00B050"/>
                </a:solidFill>
              </a:rPr>
              <a:t>- Se produce considerable I inversa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16" name="15 Conector recto"/>
          <p:cNvCxnSpPr/>
          <p:nvPr/>
        </p:nvCxnSpPr>
        <p:spPr>
          <a:xfrm>
            <a:off x="6084168" y="849039"/>
            <a:ext cx="0" cy="510024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6372200" y="863660"/>
            <a:ext cx="0" cy="5157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7236296" y="913648"/>
            <a:ext cx="0" cy="510764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7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 animBg="1"/>
      <p:bldP spid="10" grpId="0" animBg="1"/>
      <p:bldP spid="12" grpId="0" animBg="1"/>
      <p:bldP spid="11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23221"/>
            <a:ext cx="8229600" cy="666628"/>
          </a:xfrm>
        </p:spPr>
        <p:txBody>
          <a:bodyPr/>
          <a:lstStyle/>
          <a:p>
            <a:r>
              <a:rPr lang="es-AR" sz="2800" dirty="0"/>
              <a:t>Tiristor – Estados de Bloqueo</a:t>
            </a:r>
            <a:endParaRPr lang="en-US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12</a:t>
            </a:fld>
            <a:endParaRPr lang="es-ES"/>
          </a:p>
        </p:txBody>
      </p:sp>
      <p:sp>
        <p:nvSpPr>
          <p:cNvPr id="6" name="CuadroTexto 2"/>
          <p:cNvSpPr txBox="1"/>
          <p:nvPr/>
        </p:nvSpPr>
        <p:spPr>
          <a:xfrm>
            <a:off x="611560" y="689789"/>
            <a:ext cx="7877478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u="sng" dirty="0"/>
              <a:t>Bloqueo inverso:</a:t>
            </a:r>
          </a:p>
          <a:p>
            <a:r>
              <a:rPr lang="es-AR" sz="1400" dirty="0"/>
              <a:t>El ánodo es negativo respecto al cátodo. </a:t>
            </a:r>
          </a:p>
          <a:p>
            <a:r>
              <a:rPr lang="es-AR" sz="1400" dirty="0"/>
              <a:t>Junturas J</a:t>
            </a:r>
            <a:r>
              <a:rPr lang="es-AR" sz="1050" dirty="0"/>
              <a:t>1</a:t>
            </a:r>
            <a:r>
              <a:rPr lang="es-AR" sz="1400" dirty="0"/>
              <a:t> y J</a:t>
            </a:r>
            <a:r>
              <a:rPr lang="es-AR" sz="1050" dirty="0"/>
              <a:t>3</a:t>
            </a:r>
            <a:r>
              <a:rPr lang="es-AR" sz="1400" dirty="0"/>
              <a:t> están en inversa. J</a:t>
            </a:r>
            <a:r>
              <a:rPr lang="es-AR" sz="1050" dirty="0"/>
              <a:t>2</a:t>
            </a:r>
            <a:r>
              <a:rPr lang="es-AR" sz="1400" dirty="0"/>
              <a:t> está en directa</a:t>
            </a:r>
          </a:p>
          <a:p>
            <a:r>
              <a:rPr lang="es-AR" sz="1400" dirty="0"/>
              <a:t>J</a:t>
            </a:r>
            <a:r>
              <a:rPr lang="es-AR" sz="1100" dirty="0"/>
              <a:t>1</a:t>
            </a:r>
            <a:r>
              <a:rPr lang="es-AR" sz="1400" dirty="0"/>
              <a:t> tiene que soporta la tensión inversa (limitado por el ancho de zona n</a:t>
            </a:r>
            <a:r>
              <a:rPr lang="es-AR" sz="900" dirty="0"/>
              <a:t>1</a:t>
            </a:r>
            <a:r>
              <a:rPr lang="es-AR" sz="1400" dirty="0"/>
              <a:t>)</a:t>
            </a:r>
          </a:p>
          <a:p>
            <a:r>
              <a:rPr lang="es-AR" sz="1400" dirty="0"/>
              <a:t>J</a:t>
            </a:r>
            <a:r>
              <a:rPr lang="es-AR" sz="1100" dirty="0"/>
              <a:t>3</a:t>
            </a:r>
            <a:r>
              <a:rPr lang="es-AR" sz="1400" dirty="0"/>
              <a:t> tiene una </a:t>
            </a:r>
            <a:r>
              <a:rPr lang="es-AR" sz="1400" dirty="0" err="1"/>
              <a:t>Vruptura</a:t>
            </a:r>
            <a:r>
              <a:rPr lang="es-AR" sz="1400" dirty="0"/>
              <a:t> baja debido al alto dopaje en ambos lados de la unión</a:t>
            </a:r>
          </a:p>
          <a:p>
            <a:endParaRPr lang="es-AR" sz="1400" dirty="0"/>
          </a:p>
          <a:p>
            <a:r>
              <a:rPr lang="es-AR" sz="1600" b="1" i="1" u="sng" dirty="0"/>
              <a:t>Bloqueo directo:</a:t>
            </a:r>
          </a:p>
          <a:p>
            <a:r>
              <a:rPr lang="es-AR" sz="1400" dirty="0"/>
              <a:t>Junturas J</a:t>
            </a:r>
            <a:r>
              <a:rPr lang="es-AR" sz="1100" dirty="0"/>
              <a:t>1</a:t>
            </a:r>
            <a:r>
              <a:rPr lang="es-AR" sz="1400" dirty="0"/>
              <a:t> y J</a:t>
            </a:r>
            <a:r>
              <a:rPr lang="es-AR" sz="1100" dirty="0"/>
              <a:t>3</a:t>
            </a:r>
            <a:r>
              <a:rPr lang="es-AR" sz="1400" dirty="0"/>
              <a:t> están en directa. J</a:t>
            </a:r>
            <a:r>
              <a:rPr lang="es-AR" sz="1050" dirty="0"/>
              <a:t>2</a:t>
            </a:r>
            <a:r>
              <a:rPr lang="es-AR" sz="1400" dirty="0"/>
              <a:t> está en inversa</a:t>
            </a:r>
          </a:p>
          <a:p>
            <a:r>
              <a:rPr lang="es-AR" sz="1400" dirty="0"/>
              <a:t>Debido a las densidades de dopaje, en la zona n</a:t>
            </a:r>
            <a:r>
              <a:rPr lang="es-AR" sz="900" dirty="0"/>
              <a:t>1</a:t>
            </a:r>
            <a:r>
              <a:rPr lang="es-AR" sz="1400" dirty="0"/>
              <a:t> aparece la zona de </a:t>
            </a:r>
            <a:r>
              <a:rPr lang="es-AR" sz="1400" dirty="0" err="1"/>
              <a:t>deplexión</a:t>
            </a:r>
            <a:r>
              <a:rPr lang="es-AR" sz="1400" dirty="0"/>
              <a:t> de la polarización </a:t>
            </a:r>
          </a:p>
          <a:p>
            <a:r>
              <a:rPr lang="es-AR" sz="1400" dirty="0"/>
              <a:t>inversa de J</a:t>
            </a:r>
            <a:r>
              <a:rPr lang="es-AR" sz="1050" dirty="0"/>
              <a:t>2</a:t>
            </a:r>
            <a:r>
              <a:rPr lang="es-AR" sz="1400" dirty="0"/>
              <a:t>.</a:t>
            </a:r>
          </a:p>
          <a:p>
            <a:r>
              <a:rPr lang="es-AR" sz="1400" dirty="0"/>
              <a:t>Nuevamente la zona n</a:t>
            </a:r>
            <a:r>
              <a:rPr lang="es-AR" sz="900" dirty="0"/>
              <a:t>1</a:t>
            </a:r>
            <a:r>
              <a:rPr lang="es-AR" sz="1400" dirty="0"/>
              <a:t> determina la tensión de bloqueo V</a:t>
            </a:r>
            <a:r>
              <a:rPr lang="es-AR" sz="1050" dirty="0"/>
              <a:t>B0</a:t>
            </a:r>
            <a:endParaRPr lang="es-AR" sz="1400" dirty="0"/>
          </a:p>
          <a:p>
            <a:endParaRPr lang="es-AR" sz="1400" b="1" i="1" dirty="0">
              <a:solidFill>
                <a:srgbClr val="FF0000"/>
              </a:solidFill>
            </a:endParaRPr>
          </a:p>
        </p:txBody>
      </p:sp>
      <p:sp>
        <p:nvSpPr>
          <p:cNvPr id="8" name="Marcador de pie de página 3"/>
          <p:cNvSpPr txBox="1">
            <a:spLocks/>
          </p:cNvSpPr>
          <p:nvPr/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Fisica Electrónica - Ing Eduardo D. Baez - </a:t>
            </a:r>
          </a:p>
        </p:txBody>
      </p:sp>
      <p:pic>
        <p:nvPicPr>
          <p:cNvPr id="9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472" y="3229364"/>
            <a:ext cx="1707728" cy="676491"/>
          </a:xfrm>
          <a:prstGeom prst="rect">
            <a:avLst/>
          </a:prstGeom>
        </p:spPr>
      </p:pic>
      <p:pic>
        <p:nvPicPr>
          <p:cNvPr id="10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121300"/>
            <a:ext cx="1656184" cy="243804"/>
          </a:xfrm>
          <a:prstGeom prst="rect">
            <a:avLst/>
          </a:prstGeom>
        </p:spPr>
      </p:pic>
      <p:pic>
        <p:nvPicPr>
          <p:cNvPr id="11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5304422"/>
            <a:ext cx="1979835" cy="57580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CuadroTexto 10"/>
          <p:cNvSpPr txBox="1"/>
          <p:nvPr/>
        </p:nvSpPr>
        <p:spPr>
          <a:xfrm>
            <a:off x="669307" y="3136414"/>
            <a:ext cx="3970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b="1" dirty="0"/>
              <a:t>En bloqueo directo</a:t>
            </a:r>
            <a:r>
              <a:rPr lang="es-AR" sz="1400" dirty="0"/>
              <a:t>: </a:t>
            </a:r>
          </a:p>
          <a:p>
            <a:r>
              <a:rPr lang="es-AR" sz="1400" dirty="0"/>
              <a:t>(ecuaciones de </a:t>
            </a:r>
            <a:r>
              <a:rPr lang="es-AR" sz="1400" dirty="0" err="1"/>
              <a:t>Ebers</a:t>
            </a:r>
            <a:r>
              <a:rPr lang="es-AR" sz="1400" dirty="0"/>
              <a:t> </a:t>
            </a:r>
            <a:r>
              <a:rPr lang="es-AR" sz="1400" dirty="0" err="1"/>
              <a:t>Moll</a:t>
            </a:r>
            <a:r>
              <a:rPr lang="es-AR" sz="1400" dirty="0"/>
              <a:t> para los </a:t>
            </a:r>
            <a:r>
              <a:rPr lang="es-AR" sz="1400" dirty="0" err="1"/>
              <a:t>TRs</a:t>
            </a:r>
            <a:r>
              <a:rPr lang="es-AR" sz="1400" dirty="0"/>
              <a:t> Q</a:t>
            </a:r>
            <a:r>
              <a:rPr lang="es-AR" sz="1100" dirty="0"/>
              <a:t>1</a:t>
            </a:r>
            <a:r>
              <a:rPr lang="es-AR" sz="1400" dirty="0"/>
              <a:t> y Q</a:t>
            </a:r>
            <a:r>
              <a:rPr lang="es-AR" sz="1050" dirty="0"/>
              <a:t>2</a:t>
            </a:r>
            <a:endParaRPr lang="es-AR" sz="1400" dirty="0"/>
          </a:p>
          <a:p>
            <a:r>
              <a:rPr lang="es-AR" sz="1400" dirty="0"/>
              <a:t>    que se encuentran en la zona activa):</a:t>
            </a:r>
          </a:p>
        </p:txBody>
      </p:sp>
      <p:sp>
        <p:nvSpPr>
          <p:cNvPr id="13" name="CuadroTexto 11"/>
          <p:cNvSpPr txBox="1"/>
          <p:nvPr/>
        </p:nvSpPr>
        <p:spPr>
          <a:xfrm>
            <a:off x="1048734" y="4056383"/>
            <a:ext cx="2068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err="1"/>
              <a:t>Ico</a:t>
            </a:r>
            <a:r>
              <a:rPr lang="es-AR" sz="1400" dirty="0"/>
              <a:t>= corriente de pérdida:</a:t>
            </a:r>
          </a:p>
        </p:txBody>
      </p:sp>
      <p:sp>
        <p:nvSpPr>
          <p:cNvPr id="14" name="CuadroTexto 12"/>
          <p:cNvSpPr txBox="1"/>
          <p:nvPr/>
        </p:nvSpPr>
        <p:spPr>
          <a:xfrm>
            <a:off x="789277" y="4365104"/>
            <a:ext cx="5245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err="1"/>
              <a:t>Ics</a:t>
            </a:r>
            <a:r>
              <a:rPr lang="es-AR" sz="1400" dirty="0"/>
              <a:t>= corriente de </a:t>
            </a:r>
            <a:r>
              <a:rPr lang="es-AR" sz="1400" dirty="0" err="1"/>
              <a:t>sat</a:t>
            </a:r>
            <a:r>
              <a:rPr lang="es-AR" sz="1400" dirty="0"/>
              <a:t> </a:t>
            </a:r>
            <a:r>
              <a:rPr lang="es-AR" sz="1400" dirty="0" err="1"/>
              <a:t>inv</a:t>
            </a:r>
            <a:r>
              <a:rPr lang="es-AR" sz="1400" dirty="0"/>
              <a:t> colector base con emisor abierto</a:t>
            </a:r>
          </a:p>
          <a:p>
            <a:r>
              <a:rPr lang="el-GR" sz="1400" dirty="0"/>
              <a:t>α</a:t>
            </a:r>
            <a:r>
              <a:rPr lang="es-AR" sz="1400" dirty="0"/>
              <a:t>f</a:t>
            </a:r>
            <a:r>
              <a:rPr lang="el-GR" sz="1400" dirty="0"/>
              <a:t> </a:t>
            </a:r>
            <a:r>
              <a:rPr lang="es-AR" sz="1400" dirty="0"/>
              <a:t>;</a:t>
            </a:r>
            <a:r>
              <a:rPr lang="el-GR" sz="1400" dirty="0"/>
              <a:t>α</a:t>
            </a:r>
            <a:r>
              <a:rPr lang="es-AR" sz="1400" dirty="0"/>
              <a:t>r</a:t>
            </a:r>
            <a:r>
              <a:rPr lang="el-GR" sz="1400" dirty="0"/>
              <a:t> </a:t>
            </a:r>
            <a:r>
              <a:rPr lang="es-AR" sz="1400" dirty="0"/>
              <a:t>= Coeficientes de transporte de base en modo directo e inverso</a:t>
            </a:r>
          </a:p>
          <a:p>
            <a:r>
              <a:rPr lang="el-GR" sz="1400" dirty="0"/>
              <a:t>α</a:t>
            </a:r>
            <a:r>
              <a:rPr lang="es-AR" sz="1400" dirty="0"/>
              <a:t> = </a:t>
            </a:r>
            <a:r>
              <a:rPr lang="es-AR" sz="1400" dirty="0" err="1"/>
              <a:t>I</a:t>
            </a:r>
            <a:r>
              <a:rPr lang="es-AR" sz="1400" i="1" dirty="0" err="1"/>
              <a:t>n</a:t>
            </a:r>
            <a:r>
              <a:rPr lang="es-AR" sz="1400" dirty="0" err="1"/>
              <a:t>c</a:t>
            </a:r>
            <a:r>
              <a:rPr lang="es-AR" sz="1400" dirty="0"/>
              <a:t>/</a:t>
            </a:r>
            <a:r>
              <a:rPr lang="es-AR" sz="1400" dirty="0" err="1"/>
              <a:t>I</a:t>
            </a:r>
            <a:r>
              <a:rPr lang="es-AR" sz="1400" i="1" dirty="0" err="1"/>
              <a:t>n</a:t>
            </a:r>
            <a:r>
              <a:rPr lang="es-AR" sz="1400" dirty="0" err="1"/>
              <a:t>e</a:t>
            </a:r>
            <a:endParaRPr lang="es-AR" sz="1400" dirty="0"/>
          </a:p>
          <a:p>
            <a:r>
              <a:rPr lang="es-AR" sz="1400" dirty="0"/>
              <a:t>I</a:t>
            </a:r>
            <a:r>
              <a:rPr lang="es-AR" sz="1050" dirty="0"/>
              <a:t>A</a:t>
            </a:r>
            <a:r>
              <a:rPr lang="es-AR" sz="1400" dirty="0"/>
              <a:t> = I</a:t>
            </a:r>
            <a:r>
              <a:rPr lang="es-AR" sz="1050" dirty="0"/>
              <a:t>E1</a:t>
            </a:r>
            <a:r>
              <a:rPr lang="es-AR" sz="1400" dirty="0"/>
              <a:t> ; I</a:t>
            </a:r>
            <a:r>
              <a:rPr lang="es-AR" sz="1000" dirty="0"/>
              <a:t>K</a:t>
            </a:r>
            <a:r>
              <a:rPr lang="es-AR" sz="1400" dirty="0"/>
              <a:t> = - I</a:t>
            </a:r>
            <a:r>
              <a:rPr lang="es-AR" sz="1050" dirty="0"/>
              <a:t>E2 </a:t>
            </a:r>
            <a:r>
              <a:rPr lang="es-AR" sz="1400" dirty="0"/>
              <a:t>= I</a:t>
            </a:r>
            <a:r>
              <a:rPr lang="es-AR" sz="1050" dirty="0"/>
              <a:t>A</a:t>
            </a:r>
            <a:r>
              <a:rPr lang="es-AR" sz="1400" dirty="0"/>
              <a:t>+I</a:t>
            </a:r>
            <a:r>
              <a:rPr lang="es-AR" sz="1000" dirty="0"/>
              <a:t>G</a:t>
            </a:r>
            <a:endParaRPr lang="es-AR" sz="1400" dirty="0"/>
          </a:p>
        </p:txBody>
      </p:sp>
      <p:sp>
        <p:nvSpPr>
          <p:cNvPr id="15" name="CuadroTexto 13"/>
          <p:cNvSpPr txBox="1"/>
          <p:nvPr/>
        </p:nvSpPr>
        <p:spPr>
          <a:xfrm>
            <a:off x="944564" y="5880231"/>
            <a:ext cx="5131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En estado de bloqueo: (</a:t>
            </a:r>
            <a:r>
              <a:rPr lang="el-GR" sz="1400" dirty="0"/>
              <a:t>α</a:t>
            </a:r>
            <a:r>
              <a:rPr lang="es-AR" sz="1400" dirty="0"/>
              <a:t>1+</a:t>
            </a:r>
            <a:r>
              <a:rPr lang="el-GR" sz="1400" dirty="0"/>
              <a:t> α</a:t>
            </a:r>
            <a:r>
              <a:rPr lang="es-AR" sz="1400" dirty="0"/>
              <a:t>2) &lt;&lt; 1 para que la </a:t>
            </a:r>
            <a:r>
              <a:rPr lang="es-AR" sz="1400" i="1" dirty="0"/>
              <a:t>I</a:t>
            </a:r>
            <a:r>
              <a:rPr lang="es-AR" sz="1400" i="1" baseline="-25000" dirty="0"/>
              <a:t>A </a:t>
            </a:r>
            <a:r>
              <a:rPr lang="es-AR" sz="1400" dirty="0"/>
              <a:t>sea pequeña.</a:t>
            </a:r>
            <a:endParaRPr lang="es-AR" sz="1400" baseline="-25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229364"/>
            <a:ext cx="1911474" cy="1879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076482" y="5108622"/>
            <a:ext cx="273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err="1"/>
              <a:t>I</a:t>
            </a:r>
            <a:r>
              <a:rPr lang="es-AR" sz="1400" i="1" dirty="0" err="1"/>
              <a:t>n</a:t>
            </a:r>
            <a:r>
              <a:rPr lang="es-AR" sz="1400" dirty="0" err="1"/>
              <a:t>c</a:t>
            </a:r>
            <a:r>
              <a:rPr lang="es-AR" sz="1400" dirty="0"/>
              <a:t>= Corriente de </a:t>
            </a:r>
            <a:r>
              <a:rPr lang="es-AR" sz="1400" dirty="0" err="1"/>
              <a:t>elect</a:t>
            </a:r>
            <a:r>
              <a:rPr lang="es-AR" sz="1400" dirty="0"/>
              <a:t>. de colector</a:t>
            </a:r>
          </a:p>
          <a:p>
            <a:r>
              <a:rPr lang="es-AR" sz="1400" dirty="0" err="1"/>
              <a:t>I</a:t>
            </a:r>
            <a:r>
              <a:rPr lang="es-AR" sz="1400" i="1" dirty="0" err="1"/>
              <a:t>n</a:t>
            </a:r>
            <a:r>
              <a:rPr lang="es-AR" sz="1400" dirty="0" err="1"/>
              <a:t>e</a:t>
            </a:r>
            <a:r>
              <a:rPr lang="es-AR" sz="1400" dirty="0"/>
              <a:t>= Corriente de </a:t>
            </a:r>
            <a:r>
              <a:rPr lang="es-AR" sz="1400" dirty="0" err="1"/>
              <a:t>elect</a:t>
            </a:r>
            <a:r>
              <a:rPr lang="es-AR" sz="1400" dirty="0"/>
              <a:t>. de emisor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16632"/>
            <a:ext cx="143347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25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5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634082"/>
          </a:xfrm>
        </p:spPr>
        <p:txBody>
          <a:bodyPr>
            <a:normAutofit/>
          </a:bodyPr>
          <a:lstStyle/>
          <a:p>
            <a:r>
              <a:rPr lang="es-AR" sz="3600" dirty="0"/>
              <a:t>Tiristor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2886075" y="6381328"/>
            <a:ext cx="3264763" cy="365125"/>
          </a:xfrm>
        </p:spPr>
        <p:txBody>
          <a:bodyPr/>
          <a:lstStyle/>
          <a:p>
            <a:r>
              <a:rPr lang="es-ES" smtClean="0"/>
              <a:t>Física Electrónica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13</a:t>
            </a:fld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83568" y="5311268"/>
            <a:ext cx="800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Se produce una inyección fuerte de portadores minoritarios en las cuatro zonas de la estructura.</a:t>
            </a:r>
          </a:p>
          <a:p>
            <a:r>
              <a:rPr lang="es-AR" sz="1400" dirty="0"/>
              <a:t>La unión J2 es de polarización directa, y los BJT en el circuito equivalente están saturados.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5805264"/>
            <a:ext cx="2457450" cy="3143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CuadroTexto 7"/>
          <p:cNvSpPr txBox="1"/>
          <p:nvPr/>
        </p:nvSpPr>
        <p:spPr>
          <a:xfrm>
            <a:off x="697464" y="4982641"/>
            <a:ext cx="151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/>
              <a:t>Estado activo: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733064" y="748906"/>
            <a:ext cx="2281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/>
              <a:t>Proceso de encendido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067944" y="933572"/>
            <a:ext cx="42514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/>
              <a:t>La zona de resistencia negativa es inestable debido a la realimentación (+)</a:t>
            </a:r>
            <a:endParaRPr lang="es-AR" dirty="0"/>
          </a:p>
        </p:txBody>
      </p:sp>
      <p:sp>
        <p:nvSpPr>
          <p:cNvPr id="11" name="10 Rectángulo"/>
          <p:cNvSpPr/>
          <p:nvPr/>
        </p:nvSpPr>
        <p:spPr>
          <a:xfrm>
            <a:off x="4067944" y="1499314"/>
            <a:ext cx="49124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/>
              <a:t>En el encendido aumentan los </a:t>
            </a:r>
            <a:r>
              <a:rPr lang="el-GR" sz="1400" dirty="0"/>
              <a:t>α</a:t>
            </a:r>
            <a:r>
              <a:rPr lang="es-AR" sz="1400" dirty="0"/>
              <a:t>1 y </a:t>
            </a:r>
            <a:r>
              <a:rPr lang="el-GR" sz="1400" dirty="0"/>
              <a:t>α</a:t>
            </a:r>
            <a:r>
              <a:rPr lang="es-AR" sz="1400" dirty="0"/>
              <a:t>2 debido al aumento </a:t>
            </a:r>
          </a:p>
          <a:p>
            <a:r>
              <a:rPr lang="es-AR" sz="1400" dirty="0"/>
              <a:t>de la Zona de </a:t>
            </a:r>
            <a:r>
              <a:rPr lang="es-AR" sz="1400" dirty="0" err="1"/>
              <a:t>deplexión</a:t>
            </a:r>
            <a:r>
              <a:rPr lang="es-AR" sz="1400" dirty="0"/>
              <a:t> de J2 hasta la capa n1 al subir V</a:t>
            </a:r>
            <a:r>
              <a:rPr lang="es-AR" sz="1400" baseline="-25000" dirty="0"/>
              <a:t>AK.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4067944" y="2182791"/>
            <a:ext cx="4964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/>
              <a:t>Así se reduce el espesor de la base del p1n1p2 </a:t>
            </a:r>
            <a:r>
              <a:rPr lang="es-AR" sz="1400" dirty="0">
                <a:sym typeface="Wingdings" panose="05000000000000000000" pitchFamily="2" charset="2"/>
              </a:rPr>
              <a:t></a:t>
            </a:r>
            <a:r>
              <a:rPr lang="es-AR" sz="1400" dirty="0"/>
              <a:t> sube </a:t>
            </a:r>
            <a:r>
              <a:rPr lang="el-GR" sz="1400" dirty="0"/>
              <a:t>α</a:t>
            </a:r>
            <a:r>
              <a:rPr lang="es-AR" sz="1400" baseline="-25000" dirty="0" err="1"/>
              <a:t>pnp</a:t>
            </a:r>
            <a:endParaRPr lang="es-AR" sz="1400" baseline="-25000" dirty="0"/>
          </a:p>
          <a:p>
            <a:r>
              <a:rPr lang="es-AR" sz="1400" dirty="0"/>
              <a:t>La extensión de la </a:t>
            </a:r>
            <a:r>
              <a:rPr lang="es-AR" sz="1400" dirty="0" err="1"/>
              <a:t>deplexión</a:t>
            </a:r>
            <a:r>
              <a:rPr lang="es-AR" sz="1400" dirty="0"/>
              <a:t> de J</a:t>
            </a:r>
            <a:r>
              <a:rPr lang="es-AR" sz="1100" dirty="0"/>
              <a:t>2</a:t>
            </a:r>
            <a:r>
              <a:rPr lang="es-AR" sz="1400" dirty="0"/>
              <a:t> en la capa p2 </a:t>
            </a:r>
            <a:r>
              <a:rPr lang="es-AR" sz="1400" dirty="0">
                <a:sym typeface="Wingdings" panose="05000000000000000000" pitchFamily="2" charset="2"/>
              </a:rPr>
              <a:t> sube </a:t>
            </a:r>
            <a:r>
              <a:rPr lang="el-GR" sz="1400" dirty="0"/>
              <a:t>α</a:t>
            </a:r>
            <a:r>
              <a:rPr lang="es-AR" sz="1400" baseline="-25000" dirty="0" err="1"/>
              <a:t>npn</a:t>
            </a:r>
            <a:endParaRPr lang="es-AR" baseline="-25000" dirty="0"/>
          </a:p>
        </p:txBody>
      </p:sp>
      <p:sp>
        <p:nvSpPr>
          <p:cNvPr id="13" name="12 Rectángulo"/>
          <p:cNvSpPr/>
          <p:nvPr/>
        </p:nvSpPr>
        <p:spPr>
          <a:xfrm>
            <a:off x="4114800" y="285293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1400" dirty="0"/>
              <a:t>La combinación de la </a:t>
            </a:r>
            <a:r>
              <a:rPr lang="es-AR" sz="1400" dirty="0" err="1"/>
              <a:t>realim</a:t>
            </a:r>
            <a:r>
              <a:rPr lang="es-AR" sz="1400" dirty="0"/>
              <a:t> + y del aumento de los alfas posibilitan que el </a:t>
            </a:r>
            <a:r>
              <a:rPr lang="es-AR" sz="1400" dirty="0" err="1"/>
              <a:t>gate</a:t>
            </a:r>
            <a:r>
              <a:rPr lang="es-AR" sz="1400" dirty="0"/>
              <a:t> encienda al tiristor.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4033332" y="347074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1400" dirty="0"/>
              <a:t> Si se aplica una IG entrante, se inyectan e- mediante la </a:t>
            </a:r>
          </a:p>
          <a:p>
            <a:r>
              <a:rPr lang="es-AR" sz="1400" dirty="0" err="1"/>
              <a:t>polariz</a:t>
            </a:r>
            <a:r>
              <a:rPr lang="es-AR" sz="1400" dirty="0"/>
              <a:t> directa de J3 a la base p2. Luego los e- se difunden por la base y se barren a la capa n1.</a:t>
            </a:r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4067944" y="4263921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sz="1400" dirty="0"/>
              <a:t>Estos e- en n1 producen 2 efectos:</a:t>
            </a:r>
          </a:p>
          <a:p>
            <a:r>
              <a:rPr lang="es-AR" sz="1400" dirty="0"/>
              <a:t>- Aumenta el espesor de zona de </a:t>
            </a:r>
            <a:r>
              <a:rPr lang="es-AR" sz="1400" dirty="0" err="1"/>
              <a:t>deplexión</a:t>
            </a:r>
            <a:r>
              <a:rPr lang="es-AR" sz="1400" dirty="0"/>
              <a:t> de J</a:t>
            </a:r>
            <a:r>
              <a:rPr lang="es-AR" sz="1100" dirty="0"/>
              <a:t>2.</a:t>
            </a:r>
            <a:endParaRPr lang="es-AR" sz="1400" dirty="0"/>
          </a:p>
          <a:p>
            <a:r>
              <a:rPr lang="es-AR" sz="1400" dirty="0"/>
              <a:t>- Se </a:t>
            </a:r>
            <a:r>
              <a:rPr lang="es-AR" sz="1400" dirty="0" smtClean="0"/>
              <a:t>produce </a:t>
            </a:r>
            <a:r>
              <a:rPr lang="es-AR" sz="1400" dirty="0"/>
              <a:t>la </a:t>
            </a:r>
            <a:r>
              <a:rPr lang="es-AR" sz="1400" dirty="0" smtClean="0"/>
              <a:t>interacción </a:t>
            </a:r>
            <a:r>
              <a:rPr lang="es-AR" sz="1400" dirty="0"/>
              <a:t>de huecos (x requerimiento de </a:t>
            </a:r>
          </a:p>
          <a:p>
            <a:r>
              <a:rPr lang="es-AR" sz="1400" dirty="0"/>
              <a:t>  neutralidad espacial) desde la unión J</a:t>
            </a:r>
            <a:r>
              <a:rPr lang="es-AR" sz="1050" dirty="0"/>
              <a:t>1</a:t>
            </a:r>
            <a:endParaRPr lang="es-AR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3552"/>
            <a:ext cx="321945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44401"/>
            <a:ext cx="321945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16 CuadroTexto"/>
          <p:cNvSpPr txBox="1"/>
          <p:nvPr/>
        </p:nvSpPr>
        <p:spPr>
          <a:xfrm>
            <a:off x="4329730" y="5869864"/>
            <a:ext cx="459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Cuidado</a:t>
            </a:r>
            <a:r>
              <a:rPr lang="es-AR" sz="1400" dirty="0"/>
              <a:t> </a:t>
            </a:r>
            <a:r>
              <a:rPr lang="es-AR" sz="1400" dirty="0">
                <a:solidFill>
                  <a:srgbClr val="FF0000"/>
                </a:solidFill>
              </a:rPr>
              <a:t>limitar corriente mediante circuito externo</a:t>
            </a:r>
            <a:r>
              <a:rPr lang="es-AR" sz="1400" dirty="0" smtClean="0">
                <a:solidFill>
                  <a:srgbClr val="FF0000"/>
                </a:solidFill>
              </a:rPr>
              <a:t>!! (di/</a:t>
            </a:r>
            <a:r>
              <a:rPr lang="es-AR" sz="1400" dirty="0" err="1" smtClean="0">
                <a:solidFill>
                  <a:srgbClr val="FF0000"/>
                </a:solidFill>
              </a:rPr>
              <a:t>dt</a:t>
            </a:r>
            <a:r>
              <a:rPr lang="es-AR" sz="1400" dirty="0">
                <a:solidFill>
                  <a:srgbClr val="FF0000"/>
                </a:solidFill>
              </a:rPr>
              <a:t>)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6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14</a:t>
            </a:fld>
            <a:endParaRPr lang="es-ES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57200" y="274638"/>
            <a:ext cx="7931224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dirty="0"/>
              <a:t>Tiristor – Proceso de apagado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625473" y="4504978"/>
            <a:ext cx="78349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400" dirty="0"/>
              <a:t>La acción simultanea de </a:t>
            </a:r>
            <a:r>
              <a:rPr lang="es-AR" sz="1400" dirty="0">
                <a:solidFill>
                  <a:srgbClr val="FF0000"/>
                </a:solidFill>
              </a:rPr>
              <a:t>recombinación interna</a:t>
            </a:r>
            <a:r>
              <a:rPr lang="es-AR" sz="1400" dirty="0">
                <a:solidFill>
                  <a:srgbClr val="FFFF00"/>
                </a:solidFill>
              </a:rPr>
              <a:t> </a:t>
            </a:r>
            <a:r>
              <a:rPr lang="es-AR" sz="1400" dirty="0"/>
              <a:t>y </a:t>
            </a:r>
            <a:r>
              <a:rPr lang="es-AR" sz="1400" dirty="0">
                <a:solidFill>
                  <a:srgbClr val="FF0000"/>
                </a:solidFill>
              </a:rPr>
              <a:t>barrido de portadores</a:t>
            </a:r>
            <a:r>
              <a:rPr lang="es-AR" sz="1400" dirty="0">
                <a:solidFill>
                  <a:srgbClr val="FFFF00"/>
                </a:solidFill>
              </a:rPr>
              <a:t> </a:t>
            </a:r>
            <a:r>
              <a:rPr lang="es-AR" sz="1400" dirty="0"/>
              <a:t>retira la carga almacenada suficiente para </a:t>
            </a:r>
            <a:r>
              <a:rPr lang="es-AR" sz="1400" dirty="0" smtClean="0"/>
              <a:t>sacar a </a:t>
            </a:r>
            <a:r>
              <a:rPr lang="es-AR" sz="1400" dirty="0"/>
              <a:t>los BJT de la saturación y dirigirlos a la zona activa</a:t>
            </a:r>
            <a:r>
              <a:rPr lang="es-AR" sz="1400" dirty="0" smtClean="0"/>
              <a:t>.</a:t>
            </a:r>
          </a:p>
          <a:p>
            <a:pPr algn="just"/>
            <a:endParaRPr lang="es-AR" sz="1400" dirty="0"/>
          </a:p>
          <a:p>
            <a:pPr algn="just"/>
            <a:r>
              <a:rPr lang="es-AR" sz="1400" dirty="0"/>
              <a:t>Una corriente de compuerta negativa no apaga el dispositivo (área de la zona del cátodo es mucho mas grande que el área de la compuerta.)</a:t>
            </a:r>
          </a:p>
          <a:p>
            <a:pPr algn="just"/>
            <a:r>
              <a:rPr lang="es-AR" sz="1400" dirty="0"/>
              <a:t>Se invierte la polarización del G-K, se produce una concentración de corriente en el centro y el tiristor  permanece encendido</a:t>
            </a:r>
            <a:endParaRPr lang="es-AR" sz="1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37878"/>
            <a:ext cx="5248275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818" y="1484784"/>
            <a:ext cx="21907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537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15</a:t>
            </a:fld>
            <a:endParaRPr lang="es-ES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57200" y="274638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/>
              <a:t>Tiristor – Transitorio de encendido</a:t>
            </a:r>
            <a:endParaRPr lang="es-AR" sz="3600" dirty="0"/>
          </a:p>
        </p:txBody>
      </p:sp>
      <p:grpSp>
        <p:nvGrpSpPr>
          <p:cNvPr id="16" name="15 Grupo"/>
          <p:cNvGrpSpPr/>
          <p:nvPr/>
        </p:nvGrpSpPr>
        <p:grpSpPr>
          <a:xfrm>
            <a:off x="1331640" y="1026418"/>
            <a:ext cx="7429664" cy="3554710"/>
            <a:chOff x="1331640" y="1026418"/>
            <a:chExt cx="7429664" cy="355471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1026418"/>
              <a:ext cx="7429664" cy="3554710"/>
            </a:xfrm>
            <a:prstGeom prst="rect">
              <a:avLst/>
            </a:prstGeom>
          </p:spPr>
        </p:pic>
        <p:sp>
          <p:nvSpPr>
            <p:cNvPr id="8" name="Elipse 7"/>
            <p:cNvSpPr/>
            <p:nvPr/>
          </p:nvSpPr>
          <p:spPr>
            <a:xfrm>
              <a:off x="3995936" y="3138785"/>
              <a:ext cx="432048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9" name="Elipse 8"/>
            <p:cNvSpPr/>
            <p:nvPr/>
          </p:nvSpPr>
          <p:spPr>
            <a:xfrm>
              <a:off x="3147864" y="2850753"/>
              <a:ext cx="432048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" name="Elipse 9"/>
            <p:cNvSpPr/>
            <p:nvPr/>
          </p:nvSpPr>
          <p:spPr>
            <a:xfrm>
              <a:off x="2579440" y="2780928"/>
              <a:ext cx="432048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" name="CuadroTexto 1"/>
          <p:cNvSpPr txBox="1"/>
          <p:nvPr/>
        </p:nvSpPr>
        <p:spPr>
          <a:xfrm>
            <a:off x="2621620" y="4811405"/>
            <a:ext cx="318067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 err="1"/>
              <a:t>td</a:t>
            </a:r>
            <a:r>
              <a:rPr lang="es-AR" sz="1400" baseline="-25000" dirty="0" err="1"/>
              <a:t>enc</a:t>
            </a:r>
            <a:r>
              <a:rPr lang="es-AR" sz="1400" dirty="0"/>
              <a:t>= tiempo de retraso de encendido</a:t>
            </a:r>
          </a:p>
          <a:p>
            <a:endParaRPr lang="es-AR" sz="1400" dirty="0"/>
          </a:p>
          <a:p>
            <a:r>
              <a:rPr lang="es-AR" sz="1400" dirty="0" err="1"/>
              <a:t>tr</a:t>
            </a:r>
            <a:r>
              <a:rPr lang="es-AR" sz="1400" dirty="0"/>
              <a:t> = tiempo de subida</a:t>
            </a:r>
          </a:p>
          <a:p>
            <a:endParaRPr lang="es-AR" sz="1400" dirty="0"/>
          </a:p>
          <a:p>
            <a:r>
              <a:rPr lang="es-AR" sz="1400" dirty="0" err="1"/>
              <a:t>tps</a:t>
            </a:r>
            <a:r>
              <a:rPr lang="es-AR" sz="1400" dirty="0"/>
              <a:t> = tiempo de extensión de plasma</a:t>
            </a:r>
          </a:p>
        </p:txBody>
      </p:sp>
      <p:grpSp>
        <p:nvGrpSpPr>
          <p:cNvPr id="11" name="10 Grupo"/>
          <p:cNvGrpSpPr/>
          <p:nvPr/>
        </p:nvGrpSpPr>
        <p:grpSpPr>
          <a:xfrm>
            <a:off x="407033" y="1772816"/>
            <a:ext cx="2491076" cy="936104"/>
            <a:chOff x="251520" y="1844824"/>
            <a:chExt cx="2491076" cy="936104"/>
          </a:xfrm>
        </p:grpSpPr>
        <p:sp>
          <p:nvSpPr>
            <p:cNvPr id="3" name="CuadroTexto 2"/>
            <p:cNvSpPr txBox="1"/>
            <p:nvPr/>
          </p:nvSpPr>
          <p:spPr>
            <a:xfrm>
              <a:off x="251520" y="1844824"/>
              <a:ext cx="1947969" cy="83099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s-AR" sz="1200" dirty="0"/>
                <a:t>I</a:t>
              </a:r>
              <a:r>
                <a:rPr lang="es-AR" sz="1200" baseline="-25000" dirty="0"/>
                <a:t>G</a:t>
              </a:r>
              <a:r>
                <a:rPr lang="es-AR" sz="1200" dirty="0"/>
                <a:t> inyecta </a:t>
              </a:r>
              <a:r>
                <a:rPr lang="es-AR" sz="1200" b="1" i="1" dirty="0"/>
                <a:t>portadores</a:t>
              </a:r>
            </a:p>
            <a:p>
              <a:r>
                <a:rPr lang="es-AR" sz="1200" b="1" i="1" dirty="0"/>
                <a:t> excedentes </a:t>
              </a:r>
              <a:r>
                <a:rPr lang="es-AR" sz="1200" dirty="0"/>
                <a:t>en p</a:t>
              </a:r>
              <a:r>
                <a:rPr lang="es-AR" sz="900" dirty="0"/>
                <a:t>2</a:t>
              </a:r>
              <a:r>
                <a:rPr lang="es-AR" sz="1200" dirty="0"/>
                <a:t> cerca </a:t>
              </a:r>
            </a:p>
            <a:p>
              <a:r>
                <a:rPr lang="es-AR" sz="1200" dirty="0"/>
                <a:t>del contacto de </a:t>
              </a:r>
              <a:r>
                <a:rPr lang="es-AR" sz="1200" dirty="0" err="1"/>
                <a:t>Gate</a:t>
              </a:r>
              <a:endParaRPr lang="es-AR" sz="1200" dirty="0"/>
            </a:p>
            <a:p>
              <a:r>
                <a:rPr lang="es-AR" sz="1200" dirty="0"/>
                <a:t>Esto hace que los alfas -&gt;1</a:t>
              </a:r>
            </a:p>
          </p:txBody>
        </p:sp>
        <p:cxnSp>
          <p:nvCxnSpPr>
            <p:cNvPr id="15" name="Conector recto de flecha 14"/>
            <p:cNvCxnSpPr/>
            <p:nvPr/>
          </p:nvCxnSpPr>
          <p:spPr>
            <a:xfrm>
              <a:off x="2051720" y="2276872"/>
              <a:ext cx="690876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11 Grupo"/>
          <p:cNvGrpSpPr/>
          <p:nvPr/>
        </p:nvGrpSpPr>
        <p:grpSpPr>
          <a:xfrm>
            <a:off x="3492630" y="2050502"/>
            <a:ext cx="5106783" cy="727514"/>
            <a:chOff x="3462677" y="2076259"/>
            <a:chExt cx="5106783" cy="727514"/>
          </a:xfrm>
        </p:grpSpPr>
        <p:sp>
          <p:nvSpPr>
            <p:cNvPr id="13" name="CuadroTexto 12"/>
            <p:cNvSpPr txBox="1"/>
            <p:nvPr/>
          </p:nvSpPr>
          <p:spPr>
            <a:xfrm>
              <a:off x="5228481" y="2076259"/>
              <a:ext cx="3340979" cy="6463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s-AR" sz="1200" dirty="0"/>
                <a:t>Se produce una acumulación </a:t>
              </a:r>
              <a:r>
                <a:rPr lang="es-AR" sz="1200" b="1" i="1" dirty="0"/>
                <a:t>de portadores</a:t>
              </a:r>
            </a:p>
            <a:p>
              <a:r>
                <a:rPr lang="es-AR" sz="1200" b="1" i="1" dirty="0"/>
                <a:t> excedentes</a:t>
              </a:r>
              <a:r>
                <a:rPr lang="es-AR" sz="1200" dirty="0"/>
                <a:t> o plasma en las inmediaciones del </a:t>
              </a:r>
            </a:p>
            <a:p>
              <a:r>
                <a:rPr lang="es-AR" sz="1200" dirty="0" err="1"/>
                <a:t>Gate</a:t>
              </a:r>
              <a:r>
                <a:rPr lang="es-AR" sz="1200" dirty="0"/>
                <a:t>.</a:t>
              </a:r>
            </a:p>
          </p:txBody>
        </p:sp>
        <p:cxnSp>
          <p:nvCxnSpPr>
            <p:cNvPr id="18" name="Conector recto de flecha 17"/>
            <p:cNvCxnSpPr>
              <a:stCxn id="13" idx="1"/>
            </p:cNvCxnSpPr>
            <p:nvPr/>
          </p:nvCxnSpPr>
          <p:spPr>
            <a:xfrm flipH="1">
              <a:off x="3462677" y="2399425"/>
              <a:ext cx="1765804" cy="4043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13 Grupo"/>
          <p:cNvGrpSpPr/>
          <p:nvPr/>
        </p:nvGrpSpPr>
        <p:grpSpPr>
          <a:xfrm>
            <a:off x="4345578" y="2924944"/>
            <a:ext cx="4040305" cy="555896"/>
            <a:chOff x="4345578" y="2924944"/>
            <a:chExt cx="4040305" cy="213841"/>
          </a:xfrm>
        </p:grpSpPr>
        <p:sp>
          <p:nvSpPr>
            <p:cNvPr id="19" name="CuadroTexto 18"/>
            <p:cNvSpPr txBox="1"/>
            <p:nvPr/>
          </p:nvSpPr>
          <p:spPr>
            <a:xfrm>
              <a:off x="4674290" y="2924944"/>
              <a:ext cx="3711593" cy="17759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s-AR" sz="1200" dirty="0"/>
                <a:t>Terminado el tiempo de subida, el plasma continua </a:t>
              </a:r>
            </a:p>
            <a:p>
              <a:r>
                <a:rPr lang="es-AR" sz="1200" dirty="0"/>
                <a:t>su expansión</a:t>
              </a:r>
            </a:p>
          </p:txBody>
        </p:sp>
        <p:cxnSp>
          <p:nvCxnSpPr>
            <p:cNvPr id="21" name="Conector recto de flecha 20"/>
            <p:cNvCxnSpPr>
              <a:stCxn id="19" idx="1"/>
            </p:cNvCxnSpPr>
            <p:nvPr/>
          </p:nvCxnSpPr>
          <p:spPr>
            <a:xfrm flipH="1">
              <a:off x="4345578" y="3013740"/>
              <a:ext cx="328712" cy="12504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28 Grupo"/>
          <p:cNvGrpSpPr/>
          <p:nvPr/>
        </p:nvGrpSpPr>
        <p:grpSpPr>
          <a:xfrm>
            <a:off x="3135490" y="830119"/>
            <a:ext cx="4316830" cy="1390156"/>
            <a:chOff x="3135490" y="830119"/>
            <a:chExt cx="4316830" cy="1390156"/>
          </a:xfrm>
        </p:grpSpPr>
        <p:sp>
          <p:nvSpPr>
            <p:cNvPr id="20" name="Elipse 8"/>
            <p:cNvSpPr/>
            <p:nvPr/>
          </p:nvSpPr>
          <p:spPr>
            <a:xfrm>
              <a:off x="3135490" y="1844824"/>
              <a:ext cx="444422" cy="375451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22" name="Conector recto de flecha 17"/>
            <p:cNvCxnSpPr/>
            <p:nvPr/>
          </p:nvCxnSpPr>
          <p:spPr>
            <a:xfrm flipH="1">
              <a:off x="3562459" y="1412776"/>
              <a:ext cx="1765805" cy="49668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uadroTexto 2"/>
            <p:cNvSpPr txBox="1"/>
            <p:nvPr/>
          </p:nvSpPr>
          <p:spPr>
            <a:xfrm>
              <a:off x="5328264" y="830119"/>
              <a:ext cx="2124056" cy="64633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AR" sz="1200" dirty="0"/>
                <a:t>Debe ser &lt; que un (di/</a:t>
              </a:r>
              <a:r>
                <a:rPr lang="es-AR" sz="1200" dirty="0" err="1"/>
                <a:t>dt</a:t>
              </a:r>
              <a:r>
                <a:rPr lang="es-AR" sz="1200" dirty="0"/>
                <a:t>)</a:t>
              </a:r>
              <a:r>
                <a:rPr lang="es-AR" sz="1200" dirty="0" err="1"/>
                <a:t>max</a:t>
              </a:r>
              <a:r>
                <a:rPr lang="es-AR" sz="1200" dirty="0"/>
                <a:t> especificado por el fabricante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950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s-AR" sz="3600" dirty="0"/>
              <a:t>Tiristor – Transitorio de encendido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16</a:t>
            </a:fld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24744"/>
            <a:ext cx="5832698" cy="51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9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562074"/>
          </a:xfrm>
        </p:spPr>
        <p:txBody>
          <a:bodyPr/>
          <a:lstStyle/>
          <a:p>
            <a:r>
              <a:rPr lang="es-AR" sz="2000" dirty="0"/>
              <a:t>GTO (</a:t>
            </a:r>
            <a:r>
              <a:rPr lang="en-US" sz="2000" i="1" dirty="0">
                <a:effectLst/>
              </a:rPr>
              <a:t>Gate Turn-Off </a:t>
            </a:r>
            <a:r>
              <a:rPr lang="en-US" sz="2000" i="1" dirty="0" err="1">
                <a:effectLst/>
              </a:rPr>
              <a:t>Thyristor</a:t>
            </a:r>
            <a:r>
              <a:rPr lang="en-US" sz="2000" i="1" dirty="0">
                <a:effectLst/>
              </a:rPr>
              <a:t>)</a:t>
            </a:r>
            <a:endParaRPr lang="es-AR" sz="200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17</a:t>
            </a:fld>
            <a:endParaRPr lang="es-E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06" y="976170"/>
            <a:ext cx="1775160" cy="896253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29212" y="5013176"/>
            <a:ext cx="7584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- En sentido inverso, el GTO no tiene prácticamente ninguna capacidad de bloqueo debido a la estructura de cortocircuito del ánodo. </a:t>
            </a:r>
          </a:p>
          <a:p>
            <a:r>
              <a:rPr lang="es-AR" sz="1400" dirty="0"/>
              <a:t>- La única que bloquea en sentido inverso es la J3 de tensión muy baja (20 ó 30v) debido a las altas densidades de dopaje a ambos lados de la unión.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6385846" y="2350077"/>
            <a:ext cx="24164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Modifica </a:t>
            </a:r>
            <a:r>
              <a:rPr lang="es-AR" sz="1400" dirty="0" smtClean="0"/>
              <a:t>estructura del tiristor</a:t>
            </a:r>
          </a:p>
          <a:p>
            <a:r>
              <a:rPr lang="es-AR" sz="1400" dirty="0" smtClean="0"/>
              <a:t> </a:t>
            </a:r>
            <a:r>
              <a:rPr lang="es-AR" sz="1400" dirty="0"/>
              <a:t>para </a:t>
            </a:r>
            <a:r>
              <a:rPr lang="es-AR" sz="1400" dirty="0" smtClean="0"/>
              <a:t>lograr  </a:t>
            </a:r>
            <a:r>
              <a:rPr lang="es-AR" sz="1400" dirty="0"/>
              <a:t>la capacidad de </a:t>
            </a:r>
            <a:endParaRPr lang="es-AR" sz="1400" dirty="0" smtClean="0"/>
          </a:p>
          <a:p>
            <a:r>
              <a:rPr lang="es-AR" sz="1400" dirty="0" smtClean="0"/>
              <a:t>desconexión.</a:t>
            </a:r>
          </a:p>
          <a:p>
            <a:r>
              <a:rPr lang="es-AR" sz="1400" dirty="0" smtClean="0"/>
              <a:t>Diferencias con el tiristor:</a:t>
            </a:r>
            <a:endParaRPr lang="es-AR" sz="1400" dirty="0"/>
          </a:p>
        </p:txBody>
      </p:sp>
      <p:grpSp>
        <p:nvGrpSpPr>
          <p:cNvPr id="13" name="12 Grupo"/>
          <p:cNvGrpSpPr/>
          <p:nvPr/>
        </p:nvGrpSpPr>
        <p:grpSpPr>
          <a:xfrm>
            <a:off x="1331640" y="1628800"/>
            <a:ext cx="4968551" cy="3096344"/>
            <a:chOff x="1331640" y="1916832"/>
            <a:chExt cx="4935167" cy="3234481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40" y="1916832"/>
              <a:ext cx="4935167" cy="3234481"/>
            </a:xfrm>
            <a:prstGeom prst="rect">
              <a:avLst/>
            </a:prstGeom>
          </p:spPr>
        </p:pic>
        <p:sp>
          <p:nvSpPr>
            <p:cNvPr id="7" name="6 Elipse"/>
            <p:cNvSpPr/>
            <p:nvPr/>
          </p:nvSpPr>
          <p:spPr>
            <a:xfrm>
              <a:off x="2771800" y="4614529"/>
              <a:ext cx="432048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10 Elipse"/>
            <p:cNvSpPr/>
            <p:nvPr/>
          </p:nvSpPr>
          <p:spPr>
            <a:xfrm>
              <a:off x="4067944" y="4614529"/>
              <a:ext cx="432048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7 CuadroTexto"/>
          <p:cNvSpPr txBox="1"/>
          <p:nvPr/>
        </p:nvSpPr>
        <p:spPr>
          <a:xfrm>
            <a:off x="6383208" y="3304184"/>
            <a:ext cx="22932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>
                <a:solidFill>
                  <a:srgbClr val="FF0000"/>
                </a:solidFill>
              </a:rPr>
              <a:t>1- Estructura  compuerta cátodo muy </a:t>
            </a:r>
            <a:r>
              <a:rPr lang="es-AR" sz="1400" dirty="0" err="1" smtClean="0">
                <a:solidFill>
                  <a:srgbClr val="FF0000"/>
                </a:solidFill>
              </a:rPr>
              <a:t>interdigitada</a:t>
            </a:r>
            <a:endParaRPr lang="es-AR" sz="1400" dirty="0" smtClean="0">
              <a:solidFill>
                <a:srgbClr val="FF0000"/>
              </a:solidFill>
            </a:endParaRPr>
          </a:p>
          <a:p>
            <a:r>
              <a:rPr lang="es-AR" sz="1400" dirty="0" smtClean="0">
                <a:solidFill>
                  <a:srgbClr val="0070C0"/>
                </a:solidFill>
              </a:rPr>
              <a:t>2- Cátodos formados con el grabado de Si que rodea los cátodos en forma de islas.</a:t>
            </a:r>
          </a:p>
          <a:p>
            <a:r>
              <a:rPr lang="es-AR" sz="1400" dirty="0" smtClean="0">
                <a:solidFill>
                  <a:srgbClr val="00B050"/>
                </a:solidFill>
              </a:rPr>
              <a:t>3- En el ánodo las zonas n+ penetran el ánodo tipo p.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6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93738"/>
          </a:xfrm>
        </p:spPr>
        <p:txBody>
          <a:bodyPr>
            <a:normAutofit/>
          </a:bodyPr>
          <a:lstStyle/>
          <a:p>
            <a:r>
              <a:rPr lang="es-AR" sz="3600" dirty="0"/>
              <a:t>GTO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18</a:t>
            </a:fld>
            <a:endParaRPr lang="es-ES"/>
          </a:p>
        </p:txBody>
      </p:sp>
      <p:sp>
        <p:nvSpPr>
          <p:cNvPr id="12" name="CuadroTexto 11"/>
          <p:cNvSpPr txBox="1"/>
          <p:nvPr/>
        </p:nvSpPr>
        <p:spPr>
          <a:xfrm>
            <a:off x="755577" y="755993"/>
            <a:ext cx="820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/>
              <a:t>Suponiendo que Q1 y Q2 del modelo equivalente están saturados y se reduce I</a:t>
            </a:r>
            <a:r>
              <a:rPr lang="es-AR" sz="1600" baseline="-25000" dirty="0"/>
              <a:t>B2</a:t>
            </a:r>
            <a:r>
              <a:rPr lang="es-AR" sz="1600" dirty="0"/>
              <a:t>, se activaría Q2, el cual se empezaría a apagar por la acción regenerativa.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424583"/>
            <a:ext cx="1019175" cy="276225"/>
          </a:xfrm>
          <a:prstGeom prst="rect">
            <a:avLst/>
          </a:prstGeom>
        </p:spPr>
      </p:pic>
      <p:grpSp>
        <p:nvGrpSpPr>
          <p:cNvPr id="3" name="2 Grupo"/>
          <p:cNvGrpSpPr/>
          <p:nvPr/>
        </p:nvGrpSpPr>
        <p:grpSpPr>
          <a:xfrm>
            <a:off x="1043608" y="1412776"/>
            <a:ext cx="3888432" cy="2282205"/>
            <a:chOff x="1475656" y="1911077"/>
            <a:chExt cx="3888432" cy="2282205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656" y="2337129"/>
              <a:ext cx="1409700" cy="276225"/>
            </a:xfrm>
            <a:prstGeom prst="rect">
              <a:avLst/>
            </a:prstGeom>
          </p:spPr>
        </p:pic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4985" y="3068960"/>
              <a:ext cx="866775" cy="523875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4832" y="3717032"/>
              <a:ext cx="1638300" cy="476250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5676" y="2692152"/>
              <a:ext cx="857250" cy="304800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60712" y="2692152"/>
              <a:ext cx="1219200" cy="295275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5656" y="1911077"/>
              <a:ext cx="1333500" cy="371475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3320900" y="3726519"/>
              <a:ext cx="20431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>
                  <a:solidFill>
                    <a:srgbClr val="FF0000"/>
                  </a:solidFill>
                </a:rPr>
                <a:t>Ganancia de desconexión</a:t>
              </a: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3235545" y="2041103"/>
              <a:ext cx="8098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i="1" dirty="0"/>
                <a:t>I</a:t>
              </a:r>
              <a:r>
                <a:rPr lang="es-AR" sz="1400" i="1" baseline="-25000" dirty="0"/>
                <a:t>G</a:t>
              </a:r>
              <a:r>
                <a:rPr lang="es-AR" sz="1400" i="1" dirty="0"/>
                <a:t>’ = - I</a:t>
              </a:r>
              <a:r>
                <a:rPr lang="es-AR" sz="1400" i="1" baseline="-25000" dirty="0"/>
                <a:t>G</a:t>
              </a:r>
            </a:p>
          </p:txBody>
        </p:sp>
      </p:grpSp>
      <p:sp>
        <p:nvSpPr>
          <p:cNvPr id="16" name="CuadroTexto 15"/>
          <p:cNvSpPr txBox="1"/>
          <p:nvPr/>
        </p:nvSpPr>
        <p:spPr>
          <a:xfrm>
            <a:off x="611560" y="3786133"/>
            <a:ext cx="835292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/>
              <a:t>En un GTO el </a:t>
            </a:r>
            <a:r>
              <a:rPr lang="el-GR" sz="1600" dirty="0">
                <a:solidFill>
                  <a:srgbClr val="C00000"/>
                </a:solidFill>
              </a:rPr>
              <a:t>β</a:t>
            </a:r>
            <a:r>
              <a:rPr lang="es-AR" sz="1000" dirty="0" err="1">
                <a:solidFill>
                  <a:srgbClr val="C00000"/>
                </a:solidFill>
              </a:rPr>
              <a:t>apag</a:t>
            </a:r>
            <a:r>
              <a:rPr lang="es-AR" sz="1600" dirty="0">
                <a:solidFill>
                  <a:srgbClr val="C00000"/>
                </a:solidFill>
              </a:rPr>
              <a:t> </a:t>
            </a:r>
            <a:r>
              <a:rPr lang="es-AR" sz="1600" dirty="0"/>
              <a:t>debe ser grande, para lo cual:</a:t>
            </a:r>
          </a:p>
          <a:p>
            <a:pPr marL="285750" indent="-285750" algn="just">
              <a:buFontTx/>
              <a:buChar char="-"/>
            </a:pPr>
            <a:r>
              <a:rPr lang="el-GR" sz="1600" dirty="0">
                <a:solidFill>
                  <a:srgbClr val="C00000"/>
                </a:solidFill>
              </a:rPr>
              <a:t>α</a:t>
            </a:r>
            <a:r>
              <a:rPr lang="es-AR" sz="1600" baseline="-25000" dirty="0">
                <a:solidFill>
                  <a:srgbClr val="C00000"/>
                </a:solidFill>
              </a:rPr>
              <a:t>2</a:t>
            </a:r>
            <a:r>
              <a:rPr lang="es-AR" sz="1600" dirty="0">
                <a:solidFill>
                  <a:srgbClr val="C00000"/>
                </a:solidFill>
              </a:rPr>
              <a:t>≈1</a:t>
            </a:r>
            <a:r>
              <a:rPr lang="es-AR" sz="1600" dirty="0"/>
              <a:t> </a:t>
            </a:r>
            <a:r>
              <a:rPr lang="es-AR" sz="1600" dirty="0">
                <a:sym typeface="Wingdings" panose="05000000000000000000" pitchFamily="2" charset="2"/>
              </a:rPr>
              <a:t> </a:t>
            </a:r>
            <a:r>
              <a:rPr lang="es-AR" sz="1600" b="1" dirty="0">
                <a:sym typeface="Wingdings" panose="05000000000000000000" pitchFamily="2" charset="2"/>
              </a:rPr>
              <a:t>capa delgada de p</a:t>
            </a:r>
            <a:r>
              <a:rPr lang="es-AR" sz="900" b="1" dirty="0">
                <a:sym typeface="Wingdings" panose="05000000000000000000" pitchFamily="2" charset="2"/>
              </a:rPr>
              <a:t>2</a:t>
            </a:r>
            <a:r>
              <a:rPr lang="es-AR" sz="1600" dirty="0">
                <a:sym typeface="Wingdings" panose="05000000000000000000" pitchFamily="2" charset="2"/>
              </a:rPr>
              <a:t> del </a:t>
            </a:r>
            <a:r>
              <a:rPr lang="es-AR" sz="1600" dirty="0" err="1">
                <a:sym typeface="Wingdings" panose="05000000000000000000" pitchFamily="2" charset="2"/>
              </a:rPr>
              <a:t>npn</a:t>
            </a:r>
            <a:r>
              <a:rPr lang="es-AR" sz="1600" dirty="0">
                <a:sym typeface="Wingdings" panose="05000000000000000000" pitchFamily="2" charset="2"/>
              </a:rPr>
              <a:t> y un </a:t>
            </a:r>
            <a:r>
              <a:rPr lang="es-AR" sz="1600" b="1" dirty="0">
                <a:sym typeface="Wingdings" panose="05000000000000000000" pitchFamily="2" charset="2"/>
              </a:rPr>
              <a:t>dopaje grande en n</a:t>
            </a:r>
            <a:r>
              <a:rPr lang="es-AR" sz="900" b="1" dirty="0">
                <a:sym typeface="Wingdings" panose="05000000000000000000" pitchFamily="2" charset="2"/>
              </a:rPr>
              <a:t>2</a:t>
            </a:r>
            <a:r>
              <a:rPr lang="es-AR" sz="1600" b="1" dirty="0">
                <a:sym typeface="Wingdings" panose="05000000000000000000" pitchFamily="2" charset="2"/>
              </a:rPr>
              <a:t> </a:t>
            </a:r>
            <a:r>
              <a:rPr lang="es-AR" sz="1600" dirty="0">
                <a:sym typeface="Wingdings" panose="05000000000000000000" pitchFamily="2" charset="2"/>
              </a:rPr>
              <a:t>(capa de </a:t>
            </a:r>
            <a:r>
              <a:rPr lang="es-AR" sz="1600" dirty="0" err="1">
                <a:sym typeface="Wingdings" panose="05000000000000000000" pitchFamily="2" charset="2"/>
              </a:rPr>
              <a:t>catodo</a:t>
            </a:r>
            <a:r>
              <a:rPr lang="es-AR" sz="1600" dirty="0">
                <a:sym typeface="Wingdings" panose="05000000000000000000" pitchFamily="2" charset="2"/>
              </a:rPr>
              <a:t>)  (ídem tiristor normal y TBJ de alto </a:t>
            </a:r>
            <a:r>
              <a:rPr lang="el-GR" sz="1600" dirty="0">
                <a:sym typeface="Wingdings" panose="05000000000000000000" pitchFamily="2" charset="2"/>
              </a:rPr>
              <a:t>β</a:t>
            </a:r>
            <a:r>
              <a:rPr lang="es-AR" sz="1600" dirty="0">
                <a:sym typeface="Wingdings" panose="05000000000000000000" pitchFamily="2" charset="2"/>
              </a:rPr>
              <a:t>).</a:t>
            </a:r>
            <a:endParaRPr lang="es-AR" sz="1600" dirty="0"/>
          </a:p>
          <a:p>
            <a:pPr marL="285750" indent="-285750" algn="just">
              <a:buFontTx/>
              <a:buChar char="-"/>
            </a:pPr>
            <a:r>
              <a:rPr lang="el-GR" sz="1600" dirty="0">
                <a:solidFill>
                  <a:srgbClr val="C00000"/>
                </a:solidFill>
              </a:rPr>
              <a:t>α</a:t>
            </a:r>
            <a:r>
              <a:rPr lang="es-AR" sz="1600" baseline="-25000" dirty="0">
                <a:solidFill>
                  <a:srgbClr val="C00000"/>
                </a:solidFill>
              </a:rPr>
              <a:t>1</a:t>
            </a:r>
            <a:r>
              <a:rPr lang="es-AR" sz="1600" dirty="0">
                <a:solidFill>
                  <a:srgbClr val="C00000"/>
                </a:solidFill>
              </a:rPr>
              <a:t> debe ser pequeño</a:t>
            </a:r>
            <a:r>
              <a:rPr lang="es-AR" sz="1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s-AR" sz="1600" dirty="0">
                <a:sym typeface="Wingdings" panose="05000000000000000000" pitchFamily="2" charset="2"/>
              </a:rPr>
              <a:t></a:t>
            </a:r>
            <a:r>
              <a:rPr lang="es-AR" sz="1600" dirty="0"/>
              <a:t> </a:t>
            </a:r>
            <a:r>
              <a:rPr lang="es-AR" sz="1600" b="1" dirty="0"/>
              <a:t>n1 debe ser lo mas gruesa posible </a:t>
            </a:r>
            <a:r>
              <a:rPr lang="es-AR" sz="1600" dirty="0"/>
              <a:t>(ídem tiristores) y los tiempos de vida </a:t>
            </a:r>
            <a:r>
              <a:rPr lang="el-GR" sz="1600" b="1" dirty="0"/>
              <a:t>τ</a:t>
            </a:r>
            <a:r>
              <a:rPr lang="es-AR" sz="1600" b="1" dirty="0"/>
              <a:t> en esta capa  deben ser cortos</a:t>
            </a:r>
            <a:r>
              <a:rPr lang="es-AR" sz="1600" dirty="0"/>
              <a:t>.</a:t>
            </a:r>
          </a:p>
          <a:p>
            <a:pPr algn="just"/>
            <a:r>
              <a:rPr lang="es-AR" sz="1600" dirty="0"/>
              <a:t>- Los </a:t>
            </a:r>
            <a:r>
              <a:rPr lang="el-GR" sz="1600" dirty="0"/>
              <a:t>τ</a:t>
            </a:r>
            <a:r>
              <a:rPr lang="es-AR" sz="1600" dirty="0"/>
              <a:t> en esta capa deben ser cortos para limitar la disipación de potencia.</a:t>
            </a:r>
          </a:p>
          <a:p>
            <a:pPr algn="just"/>
            <a:r>
              <a:rPr lang="es-AR" sz="1600" dirty="0"/>
              <a:t>   El inconveniente de generar </a:t>
            </a:r>
            <a:r>
              <a:rPr lang="el-GR" sz="1600" dirty="0"/>
              <a:t>τ</a:t>
            </a:r>
            <a:r>
              <a:rPr lang="es-AR" sz="1600" dirty="0"/>
              <a:t> corto se soluciona con el ánodo en cortocircuito.</a:t>
            </a:r>
          </a:p>
          <a:p>
            <a:pPr algn="just"/>
            <a:r>
              <a:rPr lang="es-AR" sz="1600" dirty="0"/>
              <a:t>- Los </a:t>
            </a:r>
            <a:r>
              <a:rPr lang="el-GR" sz="1600" dirty="0"/>
              <a:t>τ</a:t>
            </a:r>
            <a:r>
              <a:rPr lang="es-AR" sz="1600" dirty="0"/>
              <a:t> cortos es lo que posibilita la desconexión del GTO </a:t>
            </a:r>
            <a:r>
              <a:rPr lang="es-AR" sz="1600" dirty="0" err="1"/>
              <a:t>através</a:t>
            </a:r>
            <a:r>
              <a:rPr lang="es-AR" sz="1600" dirty="0"/>
              <a:t> del </a:t>
            </a:r>
            <a:r>
              <a:rPr lang="es-AR" sz="1600" dirty="0" err="1"/>
              <a:t>Gate</a:t>
            </a:r>
            <a:r>
              <a:rPr lang="es-AR" sz="1600" dirty="0"/>
              <a:t>. </a:t>
            </a:r>
          </a:p>
          <a:p>
            <a:pPr algn="just"/>
            <a:r>
              <a:rPr lang="es-AR" sz="1600" dirty="0"/>
              <a:t>Para que se apague, los portadores excedentes (huecos) se deben retirar se de la zona n</a:t>
            </a:r>
            <a:r>
              <a:rPr lang="es-AR" sz="900" dirty="0"/>
              <a:t>1</a:t>
            </a:r>
          </a:p>
          <a:p>
            <a:endParaRPr lang="es-AR" sz="1400" dirty="0"/>
          </a:p>
          <a:p>
            <a:endParaRPr lang="es-AR" sz="1400" dirty="0"/>
          </a:p>
        </p:txBody>
      </p:sp>
      <p:pic>
        <p:nvPicPr>
          <p:cNvPr id="18" name="Imagen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0072" y="1424583"/>
            <a:ext cx="3477160" cy="265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8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s-AR" sz="3600" dirty="0"/>
              <a:t>GTO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19</a:t>
            </a:fld>
            <a:endParaRPr lang="es-ES"/>
          </a:p>
        </p:txBody>
      </p:sp>
      <p:sp>
        <p:nvSpPr>
          <p:cNvPr id="3" name="2 Rectángulo"/>
          <p:cNvSpPr/>
          <p:nvPr/>
        </p:nvSpPr>
        <p:spPr>
          <a:xfrm>
            <a:off x="1115616" y="890136"/>
            <a:ext cx="69847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- Debido a la estructura de cortocircuito del ánodo</a:t>
            </a:r>
            <a:r>
              <a:rPr lang="es-AR" sz="1600" b="1" dirty="0">
                <a:solidFill>
                  <a:srgbClr val="FF0000"/>
                </a:solidFill>
              </a:rPr>
              <a:t>, no puede haber tensiones </a:t>
            </a:r>
            <a:r>
              <a:rPr lang="es-AR" sz="1600" b="1" dirty="0" smtClean="0">
                <a:solidFill>
                  <a:srgbClr val="FF0000"/>
                </a:solidFill>
              </a:rPr>
              <a:t>inversas </a:t>
            </a:r>
            <a:r>
              <a:rPr lang="es-AR" sz="1600" b="1" dirty="0">
                <a:solidFill>
                  <a:srgbClr val="FF0000"/>
                </a:solidFill>
              </a:rPr>
              <a:t>de ánodo-cátodo</a:t>
            </a:r>
            <a:r>
              <a:rPr lang="es-AR" sz="1600" dirty="0"/>
              <a:t> y por tanto </a:t>
            </a:r>
            <a:r>
              <a:rPr lang="es-AR" sz="1600" dirty="0">
                <a:solidFill>
                  <a:srgbClr val="FF0000"/>
                </a:solidFill>
              </a:rPr>
              <a:t>no hay corrientes de modo inverso </a:t>
            </a:r>
            <a:r>
              <a:rPr lang="es-AR" sz="1600" dirty="0"/>
              <a:t>para </a:t>
            </a:r>
            <a:r>
              <a:rPr lang="es-AR" sz="1600" dirty="0" smtClean="0"/>
              <a:t>retirar </a:t>
            </a:r>
            <a:r>
              <a:rPr lang="es-AR" sz="1600" dirty="0"/>
              <a:t>los portadores excedentes mediante un barrido de portadores.</a:t>
            </a:r>
            <a:endParaRPr lang="es-AR" sz="2000" dirty="0"/>
          </a:p>
        </p:txBody>
      </p:sp>
      <p:sp>
        <p:nvSpPr>
          <p:cNvPr id="7" name="6 Rectángulo"/>
          <p:cNvSpPr/>
          <p:nvPr/>
        </p:nvSpPr>
        <p:spPr>
          <a:xfrm>
            <a:off x="1043608" y="1764105"/>
            <a:ext cx="67687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AR" sz="1600" dirty="0"/>
              <a:t>La única manera de sacar los portadores excedentes son la </a:t>
            </a:r>
            <a:r>
              <a:rPr lang="es-AR" sz="1600" dirty="0">
                <a:solidFill>
                  <a:srgbClr val="00B050"/>
                </a:solidFill>
              </a:rPr>
              <a:t>recombinación interna</a:t>
            </a:r>
            <a:r>
              <a:rPr lang="es-AR" sz="1600" dirty="0"/>
              <a:t> </a:t>
            </a:r>
            <a:r>
              <a:rPr lang="es-AR" sz="1600" dirty="0">
                <a:solidFill>
                  <a:srgbClr val="00B050"/>
                </a:solidFill>
              </a:rPr>
              <a:t>y la difusión </a:t>
            </a:r>
            <a:r>
              <a:rPr lang="es-AR" sz="1600" dirty="0"/>
              <a:t>a través de las zonas n+</a:t>
            </a:r>
            <a:endParaRPr lang="es-AR" sz="1600" dirty="0">
              <a:solidFill>
                <a:srgbClr val="00B050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115616" y="2348880"/>
            <a:ext cx="66959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- Las zonas </a:t>
            </a:r>
            <a:r>
              <a:rPr lang="es-AR" sz="1600" i="1" dirty="0"/>
              <a:t>n+</a:t>
            </a:r>
            <a:r>
              <a:rPr lang="es-AR" sz="1600" dirty="0"/>
              <a:t> en la estructura del ánodo del GTO </a:t>
            </a:r>
            <a:r>
              <a:rPr lang="es-AR" sz="1600" dirty="0" smtClean="0"/>
              <a:t>retiran </a:t>
            </a:r>
            <a:r>
              <a:rPr lang="es-AR" sz="1600" dirty="0"/>
              <a:t>la barrera a la difusión de huecos y proporciona un disipador para huecos excedentes.</a:t>
            </a:r>
            <a:endParaRPr lang="es-AR" sz="2000" dirty="0"/>
          </a:p>
        </p:txBody>
      </p:sp>
      <p:sp>
        <p:nvSpPr>
          <p:cNvPr id="9" name="8 Rectángulo"/>
          <p:cNvSpPr/>
          <p:nvPr/>
        </p:nvSpPr>
        <p:spPr>
          <a:xfrm>
            <a:off x="1175994" y="3068960"/>
            <a:ext cx="69243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- Se logra que la carga almacenada se retire mucho mas rápido durante la </a:t>
            </a:r>
            <a:r>
              <a:rPr lang="es-AR" sz="1600" dirty="0" smtClean="0"/>
              <a:t>desconexión </a:t>
            </a:r>
            <a:r>
              <a:rPr lang="es-AR" sz="1600" dirty="0"/>
              <a:t>del dispositivo, y  el GTO permite un apagado con tiempos de recuperación directa mas cortos en comparación con tiristores convencionales, sin comprometer gravemente sus perdidas en estado activo.</a:t>
            </a:r>
            <a:endParaRPr lang="es-AR" sz="2000" dirty="0"/>
          </a:p>
        </p:txBody>
      </p:sp>
      <p:sp>
        <p:nvSpPr>
          <p:cNvPr id="10" name="9 Rectángulo"/>
          <p:cNvSpPr/>
          <p:nvPr/>
        </p:nvSpPr>
        <p:spPr>
          <a:xfrm>
            <a:off x="1222871" y="4212377"/>
            <a:ext cx="66792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- La estructura recortada del ánodo es eficaz para reducir los tiempos de desconexión y recuperación.</a:t>
            </a:r>
            <a:endParaRPr lang="es-AR" sz="2000" dirty="0"/>
          </a:p>
        </p:txBody>
      </p:sp>
      <p:sp>
        <p:nvSpPr>
          <p:cNvPr id="11" name="10 Rectángulo"/>
          <p:cNvSpPr/>
          <p:nvPr/>
        </p:nvSpPr>
        <p:spPr>
          <a:xfrm>
            <a:off x="1231940" y="4941168"/>
            <a:ext cx="6652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/>
              <a:t>- La capacidad de desconexión de compuerta es una estructura de compuerta y cátodo muy </a:t>
            </a:r>
            <a:r>
              <a:rPr lang="es-AR" sz="1600" dirty="0" err="1"/>
              <a:t>interdigitada</a:t>
            </a:r>
            <a:r>
              <a:rPr lang="es-AR" sz="1600" dirty="0"/>
              <a:t> que minimiza las caídas de tensión laterales en la capa </a:t>
            </a:r>
            <a:r>
              <a:rPr lang="es-AR" sz="1600" i="1" dirty="0"/>
              <a:t>p</a:t>
            </a:r>
            <a:r>
              <a:rPr lang="es-AR" sz="1600" dirty="0"/>
              <a:t>2 durante el encendido y el apagado.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98608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539750" y="215900"/>
            <a:ext cx="8229600" cy="7651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AR" sz="2800" dirty="0" err="1"/>
              <a:t>Mosfet</a:t>
            </a:r>
            <a:r>
              <a:rPr lang="es-AR" sz="2800" dirty="0"/>
              <a:t> de Potencia - Modelo</a:t>
            </a:r>
            <a:endParaRPr lang="en-US" sz="2800" dirty="0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20</a:t>
            </a:fld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1014317" y="5570076"/>
            <a:ext cx="3506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La región de arrastre de drenaje determina la tensión de ruptura</a:t>
            </a:r>
            <a:endParaRPr lang="en-US" dirty="0"/>
          </a:p>
        </p:txBody>
      </p:sp>
      <p:grpSp>
        <p:nvGrpSpPr>
          <p:cNvPr id="8" name="7 Grupo"/>
          <p:cNvGrpSpPr/>
          <p:nvPr/>
        </p:nvGrpSpPr>
        <p:grpSpPr>
          <a:xfrm>
            <a:off x="983702" y="1121816"/>
            <a:ext cx="5028270" cy="2910289"/>
            <a:chOff x="1414371" y="1268760"/>
            <a:chExt cx="6740525" cy="4024312"/>
          </a:xfrm>
        </p:grpSpPr>
        <p:grpSp>
          <p:nvGrpSpPr>
            <p:cNvPr id="28674" name="Group 2"/>
            <p:cNvGrpSpPr>
              <a:grpSpLocks/>
            </p:cNvGrpSpPr>
            <p:nvPr/>
          </p:nvGrpSpPr>
          <p:grpSpPr bwMode="auto">
            <a:xfrm>
              <a:off x="1414371" y="1268760"/>
              <a:ext cx="6740525" cy="4024312"/>
              <a:chOff x="1836" y="487"/>
              <a:chExt cx="13283" cy="7953"/>
            </a:xfrm>
          </p:grpSpPr>
          <p:sp>
            <p:nvSpPr>
              <p:cNvPr id="28676" name="Rectangle 3"/>
              <p:cNvSpPr>
                <a:spLocks noChangeArrowheads="1"/>
              </p:cNvSpPr>
              <p:nvPr/>
            </p:nvSpPr>
            <p:spPr bwMode="auto">
              <a:xfrm>
                <a:off x="1841" y="494"/>
                <a:ext cx="13269" cy="79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77" name="Rectangle 4"/>
              <p:cNvSpPr>
                <a:spLocks noChangeArrowheads="1"/>
              </p:cNvSpPr>
              <p:nvPr/>
            </p:nvSpPr>
            <p:spPr bwMode="auto">
              <a:xfrm>
                <a:off x="1843" y="494"/>
                <a:ext cx="13268" cy="79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8678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2" y="2322"/>
                <a:ext cx="9981" cy="5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79" name="Picture 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87" y="606"/>
                <a:ext cx="4308" cy="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3 CuadroTexto"/>
            <p:cNvSpPr txBox="1"/>
            <p:nvPr/>
          </p:nvSpPr>
          <p:spPr>
            <a:xfrm>
              <a:off x="3521523" y="3957199"/>
              <a:ext cx="23464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 smtClean="0"/>
                <a:t>Región de arrastre de drenaje</a:t>
              </a:r>
              <a:endParaRPr lang="en-US" dirty="0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3328466" y="3160625"/>
              <a:ext cx="1673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 smtClean="0">
                  <a:solidFill>
                    <a:srgbClr val="FF0000"/>
                  </a:solidFill>
                </a:rPr>
                <a:t>Oxido de compuerta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2627548" y="2861910"/>
              <a:ext cx="13683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 smtClean="0">
                  <a:solidFill>
                    <a:srgbClr val="FF0000"/>
                  </a:solidFill>
                </a:rPr>
                <a:t>Oxido de campo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1979712" y="3717032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200" dirty="0" smtClean="0">
                  <a:solidFill>
                    <a:srgbClr val="00B050"/>
                  </a:solidFill>
                </a:rPr>
                <a:t>cuerpo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460152" y="3769295"/>
              <a:ext cx="696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 smtClean="0">
                  <a:solidFill>
                    <a:srgbClr val="00B050"/>
                  </a:solidFill>
                </a:rPr>
                <a:t>cuerpo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0" name="9 Rectángulo"/>
          <p:cNvSpPr/>
          <p:nvPr/>
        </p:nvSpPr>
        <p:spPr>
          <a:xfrm>
            <a:off x="1114869" y="4581128"/>
            <a:ext cx="30835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 smtClean="0"/>
              <a:t>Región</a:t>
            </a:r>
            <a:r>
              <a:rPr lang="en-US" sz="1400" dirty="0" smtClean="0"/>
              <a:t> </a:t>
            </a:r>
            <a:r>
              <a:rPr lang="en-US" sz="1400" dirty="0" err="1" smtClean="0"/>
              <a:t>Ohmica</a:t>
            </a:r>
            <a:r>
              <a:rPr lang="en-US" sz="1400" dirty="0" smtClean="0"/>
              <a:t>: VGS</a:t>
            </a:r>
            <a:r>
              <a:rPr lang="en-US" sz="1400" dirty="0"/>
              <a:t>−VGS(</a:t>
            </a:r>
            <a:r>
              <a:rPr lang="en-US" sz="1400" dirty="0" err="1"/>
              <a:t>th</a:t>
            </a:r>
            <a:r>
              <a:rPr lang="en-US" sz="1400" dirty="0"/>
              <a:t>) &gt; VDS &gt; 0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599" y="3789040"/>
            <a:ext cx="416891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1119601" y="4077072"/>
            <a:ext cx="290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Región de estrangulamiento </a:t>
            </a:r>
            <a:r>
              <a:rPr lang="es-ES" sz="1400" dirty="0"/>
              <a:t>cuando la </a:t>
            </a:r>
            <a:r>
              <a:rPr lang="es-ES" sz="1400" dirty="0" smtClean="0"/>
              <a:t>VGS </a:t>
            </a:r>
            <a:r>
              <a:rPr lang="en-US" sz="1400" dirty="0" smtClean="0"/>
              <a:t>&lt; </a:t>
            </a:r>
            <a:r>
              <a:rPr lang="en-US" sz="1400" i="1" dirty="0" smtClean="0"/>
              <a:t>VGS</a:t>
            </a:r>
            <a:r>
              <a:rPr lang="en-US" sz="1400" dirty="0" smtClean="0"/>
              <a:t>(</a:t>
            </a:r>
            <a:r>
              <a:rPr lang="en-US" sz="1400" dirty="0" err="1" smtClean="0"/>
              <a:t>th</a:t>
            </a:r>
            <a:r>
              <a:rPr lang="en-US" sz="1400" dirty="0" smtClean="0"/>
              <a:t>).</a:t>
            </a:r>
            <a:endParaRPr lang="en-US" sz="14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335" y="1366955"/>
            <a:ext cx="1057977" cy="1285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03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"/>
          <p:cNvSpPr/>
          <p:nvPr/>
        </p:nvSpPr>
        <p:spPr>
          <a:xfrm>
            <a:off x="4860032" y="2917485"/>
            <a:ext cx="3820278" cy="32636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683568" y="2935977"/>
            <a:ext cx="4176464" cy="32451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21</a:t>
            </a:fld>
            <a:endParaRPr lang="es-E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893" y="796371"/>
            <a:ext cx="1694507" cy="198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38" y="3522245"/>
            <a:ext cx="1833562" cy="228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598" y="3594253"/>
            <a:ext cx="1689801" cy="2066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12 Grupo"/>
          <p:cNvGrpSpPr/>
          <p:nvPr/>
        </p:nvGrpSpPr>
        <p:grpSpPr>
          <a:xfrm>
            <a:off x="7092280" y="2888768"/>
            <a:ext cx="1489599" cy="3254394"/>
            <a:chOff x="7092280" y="2888768"/>
            <a:chExt cx="1489599" cy="3254394"/>
          </a:xfrm>
        </p:grpSpPr>
        <p:pic>
          <p:nvPicPr>
            <p:cNvPr id="2058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2888768"/>
              <a:ext cx="1489599" cy="1853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5766" y="4797151"/>
              <a:ext cx="1088472" cy="13460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" name="5 CuadroTexto"/>
          <p:cNvSpPr txBox="1"/>
          <p:nvPr/>
        </p:nvSpPr>
        <p:spPr>
          <a:xfrm>
            <a:off x="938238" y="179348"/>
            <a:ext cx="6923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MOSFET de Potencia Física de Operación y Curvas Características</a:t>
            </a:r>
            <a:endParaRPr lang="en-US" dirty="0">
              <a:solidFill>
                <a:srgbClr val="FF0000"/>
              </a:solidFill>
              <a:latin typeface="Verdana" pitchFamily="34" charset="0"/>
              <a:ea typeface="Verdana" pitchFamily="34" charset="0"/>
            </a:endParaRPr>
          </a:p>
        </p:txBody>
      </p:sp>
      <p:grpSp>
        <p:nvGrpSpPr>
          <p:cNvPr id="14" name="13 Grupo"/>
          <p:cNvGrpSpPr/>
          <p:nvPr/>
        </p:nvGrpSpPr>
        <p:grpSpPr>
          <a:xfrm>
            <a:off x="2771800" y="692696"/>
            <a:ext cx="1843599" cy="2232248"/>
            <a:chOff x="2771800" y="692696"/>
            <a:chExt cx="1843599" cy="2232248"/>
          </a:xfrm>
        </p:grpSpPr>
        <p:grpSp>
          <p:nvGrpSpPr>
            <p:cNvPr id="3" name="2 Grupo"/>
            <p:cNvGrpSpPr/>
            <p:nvPr/>
          </p:nvGrpSpPr>
          <p:grpSpPr>
            <a:xfrm>
              <a:off x="2771800" y="692696"/>
              <a:ext cx="1843599" cy="2232248"/>
              <a:chOff x="2771800" y="692696"/>
              <a:chExt cx="1843599" cy="2232248"/>
            </a:xfrm>
          </p:grpSpPr>
          <p:pic>
            <p:nvPicPr>
              <p:cNvPr id="2051" name="Picture 3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800" y="692696"/>
                <a:ext cx="1843599" cy="2160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" name="6 CuadroTexto"/>
              <p:cNvSpPr txBox="1"/>
              <p:nvPr/>
            </p:nvSpPr>
            <p:spPr>
              <a:xfrm>
                <a:off x="2771800" y="2463279"/>
                <a:ext cx="1843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200" b="1" dirty="0" err="1" smtClean="0">
                    <a:solidFill>
                      <a:srgbClr val="FF0000"/>
                    </a:solidFill>
                  </a:rPr>
                  <a:t>Vgs</a:t>
                </a:r>
                <a:r>
                  <a:rPr lang="es-AR" sz="1200" b="1" dirty="0" smtClean="0">
                    <a:solidFill>
                      <a:srgbClr val="FF0000"/>
                    </a:solidFill>
                  </a:rPr>
                  <a:t>=</a:t>
                </a:r>
                <a:r>
                  <a:rPr lang="es-AR" sz="1200" b="1" dirty="0" err="1" smtClean="0">
                    <a:solidFill>
                      <a:srgbClr val="FF0000"/>
                    </a:solidFill>
                  </a:rPr>
                  <a:t>VgsTh</a:t>
                </a:r>
                <a:r>
                  <a:rPr lang="es-AR" sz="1200" b="1" dirty="0" smtClean="0">
                    <a:solidFill>
                      <a:srgbClr val="FF0000"/>
                    </a:solidFill>
                  </a:rPr>
                  <a:t>: Comienzo    de Capa de inversión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9" name="8 Conector recto de flecha"/>
            <p:cNvCxnSpPr/>
            <p:nvPr/>
          </p:nvCxnSpPr>
          <p:spPr>
            <a:xfrm flipV="1">
              <a:off x="3415437" y="1772816"/>
              <a:ext cx="364475" cy="73111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7 Grupo"/>
          <p:cNvGrpSpPr/>
          <p:nvPr/>
        </p:nvGrpSpPr>
        <p:grpSpPr>
          <a:xfrm>
            <a:off x="4716016" y="842285"/>
            <a:ext cx="1638078" cy="1938643"/>
            <a:chOff x="4716016" y="842285"/>
            <a:chExt cx="1638078" cy="1938643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842285"/>
              <a:ext cx="1638078" cy="1938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20 CuadroTexto"/>
            <p:cNvSpPr txBox="1"/>
            <p:nvPr/>
          </p:nvSpPr>
          <p:spPr>
            <a:xfrm>
              <a:off x="5090361" y="2391271"/>
              <a:ext cx="9217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200" b="1" dirty="0" err="1" smtClean="0">
                  <a:solidFill>
                    <a:srgbClr val="FF0000"/>
                  </a:solidFill>
                </a:rPr>
                <a:t>Vgs</a:t>
              </a:r>
              <a:r>
                <a:rPr lang="es-AR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smtClean="0">
                  <a:solidFill>
                    <a:srgbClr val="FF0000"/>
                  </a:solidFill>
                </a:rPr>
                <a:t>&gt;</a:t>
              </a:r>
              <a:r>
                <a:rPr lang="es-AR" sz="1200" b="1" dirty="0" smtClean="0">
                  <a:solidFill>
                    <a:srgbClr val="FF0000"/>
                  </a:solidFill>
                </a:rPr>
                <a:t> </a:t>
              </a:r>
              <a:r>
                <a:rPr lang="es-AR" sz="1200" b="1" dirty="0" err="1" smtClean="0">
                  <a:solidFill>
                    <a:srgbClr val="FF0000"/>
                  </a:solidFill>
                </a:rPr>
                <a:t>VgsTh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11 Grupo"/>
          <p:cNvGrpSpPr/>
          <p:nvPr/>
        </p:nvGrpSpPr>
        <p:grpSpPr>
          <a:xfrm>
            <a:off x="5040560" y="2996952"/>
            <a:ext cx="1961953" cy="3184219"/>
            <a:chOff x="5040560" y="2996952"/>
            <a:chExt cx="1961953" cy="3184219"/>
          </a:xfrm>
        </p:grpSpPr>
        <p:pic>
          <p:nvPicPr>
            <p:cNvPr id="2060" name="Picture 1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7" y="4864598"/>
              <a:ext cx="1926456" cy="1316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61" name="Picture 13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560" y="2996952"/>
              <a:ext cx="1638078" cy="1843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10 CuadroTexto"/>
          <p:cNvSpPr txBox="1"/>
          <p:nvPr/>
        </p:nvSpPr>
        <p:spPr>
          <a:xfrm>
            <a:off x="2037415" y="2940682"/>
            <a:ext cx="3038641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>
                <a:solidFill>
                  <a:srgbClr val="0070C0"/>
                </a:solidFill>
              </a:rPr>
              <a:t>Conducci</a:t>
            </a:r>
            <a:r>
              <a:rPr lang="es-AR" sz="1600" b="1" dirty="0" err="1" smtClean="0">
                <a:solidFill>
                  <a:srgbClr val="0070C0"/>
                </a:solidFill>
              </a:rPr>
              <a:t>ón</a:t>
            </a:r>
            <a:r>
              <a:rPr lang="es-AR" sz="1600" b="1" dirty="0" smtClean="0">
                <a:solidFill>
                  <a:srgbClr val="0070C0"/>
                </a:solidFill>
              </a:rPr>
              <a:t> y saturación del canal</a:t>
            </a:r>
            <a:endParaRPr lang="en-US" sz="1600" b="1" dirty="0">
              <a:solidFill>
                <a:srgbClr val="0070C0"/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755576" y="764704"/>
            <a:ext cx="1848845" cy="2088232"/>
            <a:chOff x="755576" y="764704"/>
            <a:chExt cx="1848845" cy="208823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5" y="764704"/>
              <a:ext cx="1776836" cy="2088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21 CuadroTexto"/>
            <p:cNvSpPr txBox="1"/>
            <p:nvPr/>
          </p:nvSpPr>
          <p:spPr>
            <a:xfrm>
              <a:off x="755576" y="2463279"/>
              <a:ext cx="18435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200" b="1" dirty="0" smtClean="0">
                  <a:solidFill>
                    <a:srgbClr val="FF0000"/>
                  </a:solidFill>
                </a:rPr>
                <a:t>Zona de degradación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19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562074"/>
          </a:xfrm>
        </p:spPr>
        <p:txBody>
          <a:bodyPr/>
          <a:lstStyle/>
          <a:p>
            <a:r>
              <a:rPr lang="es-AR" sz="2800" dirty="0"/>
              <a:t>IGBT (</a:t>
            </a:r>
            <a:r>
              <a:rPr lang="en-US" sz="2800" i="1" dirty="0"/>
              <a:t>Insulated Gate Bipolar Transistor</a:t>
            </a:r>
            <a:r>
              <a:rPr lang="en-US" sz="2800" dirty="0"/>
              <a:t>)</a:t>
            </a:r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22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04" y="1144445"/>
            <a:ext cx="5433676" cy="21405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154566"/>
            <a:ext cx="5372100" cy="288222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908720"/>
            <a:ext cx="2819574" cy="1476176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5148064" y="1556792"/>
            <a:ext cx="432048" cy="10801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9 CuadroTexto"/>
          <p:cNvSpPr txBox="1"/>
          <p:nvPr/>
        </p:nvSpPr>
        <p:spPr>
          <a:xfrm>
            <a:off x="5724128" y="764704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rgbClr val="FF0000"/>
                </a:solidFill>
              </a:rPr>
              <a:t>Cortocircuito </a:t>
            </a:r>
            <a:r>
              <a:rPr lang="es-AR" sz="1200" dirty="0" err="1" smtClean="0">
                <a:solidFill>
                  <a:srgbClr val="FF0000"/>
                </a:solidFill>
              </a:rPr>
              <a:t>Body-Source</a:t>
            </a:r>
            <a:r>
              <a:rPr lang="es-AR" sz="1200" dirty="0" smtClean="0">
                <a:solidFill>
                  <a:srgbClr val="FF0000"/>
                </a:solidFill>
              </a:rPr>
              <a:t> reduce posibilidad de encendido del tiristor parásito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2" name="11 Conector recto de flecha"/>
          <p:cNvCxnSpPr>
            <a:stCxn id="10" idx="1"/>
            <a:endCxn id="3" idx="0"/>
          </p:cNvCxnSpPr>
          <p:nvPr/>
        </p:nvCxnSpPr>
        <p:spPr>
          <a:xfrm flipH="1">
            <a:off x="5364088" y="995537"/>
            <a:ext cx="360040" cy="5612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827584" y="5852122"/>
            <a:ext cx="7140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dirty="0">
                <a:solidFill>
                  <a:srgbClr val="FF0000"/>
                </a:solidFill>
              </a:rPr>
              <a:t>Dispositivo Controlado por </a:t>
            </a:r>
            <a:r>
              <a:rPr lang="es-AR" sz="1600" dirty="0" smtClean="0">
                <a:solidFill>
                  <a:srgbClr val="FF0000"/>
                </a:solidFill>
              </a:rPr>
              <a:t>Voltaje, y tiene un Estado Activo y un Estado de Bloqueo</a:t>
            </a:r>
            <a:endParaRPr lang="en-US" sz="1600" dirty="0">
              <a:solidFill>
                <a:srgbClr val="FF0000"/>
              </a:solidFill>
            </a:endParaRPr>
          </a:p>
        </p:txBody>
      </p:sp>
      <p:grpSp>
        <p:nvGrpSpPr>
          <p:cNvPr id="13" name="12 Grupo"/>
          <p:cNvGrpSpPr/>
          <p:nvPr/>
        </p:nvGrpSpPr>
        <p:grpSpPr>
          <a:xfrm>
            <a:off x="539552" y="2348880"/>
            <a:ext cx="915609" cy="1531913"/>
            <a:chOff x="539552" y="2348880"/>
            <a:chExt cx="915609" cy="153191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2348880"/>
              <a:ext cx="915609" cy="123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10 CuadroTexto"/>
            <p:cNvSpPr txBox="1"/>
            <p:nvPr/>
          </p:nvSpPr>
          <p:spPr>
            <a:xfrm>
              <a:off x="605947" y="3573016"/>
              <a:ext cx="7457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400" dirty="0"/>
                <a:t>Canal N</a:t>
              </a:r>
              <a:endParaRPr lang="en-US" sz="1400" dirty="0"/>
            </a:p>
          </p:txBody>
        </p:sp>
      </p:grpSp>
      <p:sp>
        <p:nvSpPr>
          <p:cNvPr id="22" name="21 CuadroTexto"/>
          <p:cNvSpPr txBox="1"/>
          <p:nvPr/>
        </p:nvSpPr>
        <p:spPr>
          <a:xfrm>
            <a:off x="8555656" y="2204864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</a:rPr>
              <a:t>X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856452"/>
            <a:ext cx="2682297" cy="196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43363"/>
            <a:ext cx="1416754" cy="1614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59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41809" y="404664"/>
            <a:ext cx="7931224" cy="648072"/>
          </a:xfrm>
        </p:spPr>
        <p:txBody>
          <a:bodyPr/>
          <a:lstStyle/>
          <a:p>
            <a:r>
              <a:rPr lang="es-AR" sz="2800" dirty="0"/>
              <a:t>Flujo de Corrientes y componentes parásitos</a:t>
            </a:r>
            <a:endParaRPr lang="en-US" sz="28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23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4265790" cy="2826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391904"/>
            <a:ext cx="15430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16 Grupo"/>
          <p:cNvGrpSpPr/>
          <p:nvPr/>
        </p:nvGrpSpPr>
        <p:grpSpPr>
          <a:xfrm>
            <a:off x="4716016" y="1844824"/>
            <a:ext cx="3884687" cy="2326065"/>
            <a:chOff x="4716016" y="1844824"/>
            <a:chExt cx="3884687" cy="2326065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1844824"/>
              <a:ext cx="3884687" cy="2326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5 Conector recto"/>
            <p:cNvCxnSpPr/>
            <p:nvPr/>
          </p:nvCxnSpPr>
          <p:spPr>
            <a:xfrm flipH="1">
              <a:off x="5580112" y="2780928"/>
              <a:ext cx="72008" cy="22692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>
              <a:off x="7524328" y="2780928"/>
              <a:ext cx="144016" cy="22692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650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404664"/>
            <a:ext cx="7920880" cy="792088"/>
          </a:xfrm>
        </p:spPr>
        <p:txBody>
          <a:bodyPr/>
          <a:lstStyle/>
          <a:p>
            <a:r>
              <a:rPr lang="es-AR" sz="3600" dirty="0"/>
              <a:t>Circuitos Equivalentes IGBT</a:t>
            </a:r>
            <a:endParaRPr lang="en-US" sz="36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24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1196752"/>
            <a:ext cx="4608512" cy="2136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340768"/>
            <a:ext cx="1121260" cy="1796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611560" y="3356992"/>
            <a:ext cx="806489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400" dirty="0" smtClean="0">
                <a:latin typeface="Verdana" pitchFamily="34" charset="0"/>
                <a:ea typeface="Verdana" pitchFamily="34" charset="0"/>
              </a:rPr>
              <a:t>- </a:t>
            </a:r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Latchup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: Se produce por el encendido del transistor </a:t>
            </a:r>
            <a:r>
              <a:rPr lang="es-AR" sz="1400" dirty="0" err="1">
                <a:latin typeface="Verdana" pitchFamily="34" charset="0"/>
                <a:ea typeface="Verdana" pitchFamily="34" charset="0"/>
              </a:rPr>
              <a:t>npn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 que genera el enclavamiento del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tiristor por la inyección de electrones desde la fuente al cuerpo (p).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El fabricante  define una I</a:t>
            </a:r>
            <a:r>
              <a:rPr lang="es-AR" sz="1050" dirty="0">
                <a:latin typeface="Verdana" pitchFamily="34" charset="0"/>
                <a:ea typeface="Verdana" pitchFamily="34" charset="0"/>
              </a:rPr>
              <a:t>DN </a:t>
            </a:r>
            <a:r>
              <a:rPr lang="es-AR" sz="1050" dirty="0" err="1">
                <a:latin typeface="Verdana" pitchFamily="34" charset="0"/>
                <a:ea typeface="Verdana" pitchFamily="34" charset="0"/>
              </a:rPr>
              <a:t>max</a:t>
            </a:r>
            <a:r>
              <a:rPr lang="es-AR" sz="1050" dirty="0">
                <a:latin typeface="Verdana" pitchFamily="34" charset="0"/>
                <a:ea typeface="Verdana" pitchFamily="34" charset="0"/>
              </a:rPr>
              <a:t>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para evitar esta condición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. (</a:t>
            </a:r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Latchup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 estático).</a:t>
            </a:r>
          </a:p>
          <a:p>
            <a:pPr algn="just"/>
            <a:endParaRPr lang="es-AR" sz="1400" dirty="0">
              <a:latin typeface="Verdana" pitchFamily="34" charset="0"/>
              <a:ea typeface="Verdana" pitchFamily="34" charset="0"/>
            </a:endParaRPr>
          </a:p>
          <a:p>
            <a:pPr algn="just"/>
            <a:r>
              <a:rPr lang="es-AR" sz="1400" dirty="0" smtClean="0">
                <a:latin typeface="Verdana" pitchFamily="34" charset="0"/>
                <a:ea typeface="Verdana" pitchFamily="34" charset="0"/>
              </a:rPr>
              <a:t>- </a:t>
            </a:r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Latchup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 dinámico: cuando conmuta de encendido a apagado, la corriente máxima es menor que la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I</a:t>
            </a:r>
            <a:r>
              <a:rPr lang="es-AR" sz="1050" dirty="0">
                <a:latin typeface="Verdana" pitchFamily="34" charset="0"/>
                <a:ea typeface="Verdana" pitchFamily="34" charset="0"/>
              </a:rPr>
              <a:t>DN </a:t>
            </a:r>
            <a:r>
              <a:rPr lang="es-AR" sz="1050" dirty="0" err="1">
                <a:latin typeface="Verdana" pitchFamily="34" charset="0"/>
                <a:ea typeface="Verdana" pitchFamily="34" charset="0"/>
              </a:rPr>
              <a:t>max</a:t>
            </a:r>
            <a:r>
              <a:rPr lang="es-AR" sz="1050" dirty="0">
                <a:latin typeface="Verdana" pitchFamily="34" charset="0"/>
                <a:ea typeface="Verdana" pitchFamily="34" charset="0"/>
              </a:rPr>
              <a:t> </a:t>
            </a:r>
            <a:endParaRPr lang="es-AR" sz="1400" dirty="0">
              <a:latin typeface="Verdana" pitchFamily="34" charset="0"/>
              <a:ea typeface="Verdana" pitchFamily="34" charset="0"/>
            </a:endParaRPr>
          </a:p>
          <a:p>
            <a:pPr algn="just"/>
            <a:endParaRPr lang="es-AR" sz="1400" dirty="0" smtClean="0">
              <a:latin typeface="Verdana" pitchFamily="34" charset="0"/>
              <a:ea typeface="Verdana" pitchFamily="34" charset="0"/>
            </a:endParaRPr>
          </a:p>
          <a:p>
            <a:pPr algn="just"/>
            <a:r>
              <a:rPr lang="es-AR" sz="1400" dirty="0" smtClean="0">
                <a:latin typeface="Verdana" pitchFamily="34" charset="0"/>
                <a:ea typeface="Verdana" pitchFamily="34" charset="0"/>
              </a:rPr>
              <a:t>- La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R de la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región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de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arrastre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depende del valor de </a:t>
            </a:r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Vg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 (tensión de puerta).</a:t>
            </a:r>
          </a:p>
          <a:p>
            <a:pPr algn="just"/>
            <a:endParaRPr lang="es-AR" sz="1400" dirty="0">
              <a:latin typeface="Verdana" pitchFamily="34" charset="0"/>
              <a:ea typeface="Verdana" pitchFamily="34" charset="0"/>
            </a:endParaRPr>
          </a:p>
          <a:p>
            <a:pPr algn="just"/>
            <a:r>
              <a:rPr lang="es-AR" sz="1400" dirty="0" smtClean="0">
                <a:latin typeface="Verdana" pitchFamily="34" charset="0"/>
                <a:ea typeface="Verdana" pitchFamily="34" charset="0"/>
              </a:rPr>
              <a:t>Se debe tratar que el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transistor NPN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no se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active cuando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las corrientes parásitas que se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generan </a:t>
            </a:r>
            <a:r>
              <a:rPr lang="es-AR" sz="1400" dirty="0">
                <a:latin typeface="Verdana" pitchFamily="34" charset="0"/>
                <a:ea typeface="Verdana" pitchFamily="34" charset="0"/>
              </a:rPr>
              <a:t>al 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conmutar (dv/</a:t>
            </a:r>
            <a:r>
              <a:rPr lang="es-AR" sz="1400" dirty="0" err="1" smtClean="0">
                <a:latin typeface="Verdana" pitchFamily="34" charset="0"/>
                <a:ea typeface="Verdana" pitchFamily="34" charset="0"/>
              </a:rPr>
              <a:t>dt</a:t>
            </a:r>
            <a:r>
              <a:rPr lang="es-AR" sz="1400" dirty="0" smtClean="0">
                <a:latin typeface="Verdana" pitchFamily="34" charset="0"/>
                <a:ea typeface="Verdana" pitchFamily="34" charset="0"/>
              </a:rPr>
              <a:t>) son muy altas.</a:t>
            </a:r>
          </a:p>
          <a:p>
            <a:pPr algn="just"/>
            <a:endParaRPr lang="es-AR" sz="1400" dirty="0">
              <a:latin typeface="Verdana" pitchFamily="34" charset="0"/>
              <a:ea typeface="Verdana" pitchFamily="34" charset="0"/>
            </a:endParaRPr>
          </a:p>
          <a:p>
            <a:pPr algn="just"/>
            <a:r>
              <a:rPr lang="es-AR" sz="1400" dirty="0">
                <a:latin typeface="Verdana" pitchFamily="34" charset="0"/>
                <a:ea typeface="Verdana" pitchFamily="34" charset="0"/>
              </a:rPr>
              <a:t>Es un transistor de compuerta aislada, y por tanto «I drenaje= I fuente»</a:t>
            </a:r>
            <a:endParaRPr lang="en-US" sz="1400" dirty="0">
              <a:latin typeface="Verdana" pitchFamily="34" charset="0"/>
              <a:ea typeface="Verdana" pitchFamily="34" charset="0"/>
            </a:endParaRPr>
          </a:p>
        </p:txBody>
      </p:sp>
      <p:cxnSp>
        <p:nvCxnSpPr>
          <p:cNvPr id="7" name="6 Conector recto de flecha"/>
          <p:cNvCxnSpPr/>
          <p:nvPr/>
        </p:nvCxnSpPr>
        <p:spPr>
          <a:xfrm>
            <a:off x="6156176" y="1340768"/>
            <a:ext cx="0" cy="1796193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3779912" y="2247256"/>
            <a:ext cx="25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rgbClr val="C00000"/>
                </a:solidFill>
              </a:rPr>
              <a:t>+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868144" y="1268761"/>
            <a:ext cx="25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rgbClr val="C00000"/>
                </a:solidFill>
              </a:rPr>
              <a:t>+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897970" y="2823319"/>
            <a:ext cx="25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rgbClr val="C00000"/>
                </a:solidFill>
              </a:rPr>
              <a:t>-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5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Dispositivos de Banda Prohibida Ancha (</a:t>
            </a:r>
            <a:r>
              <a:rPr lang="es-AR" sz="3600" dirty="0" err="1"/>
              <a:t>WBG</a:t>
            </a:r>
            <a:r>
              <a:rPr lang="es-AR" sz="3600" dirty="0"/>
              <a:t>)</a:t>
            </a:r>
            <a:endParaRPr lang="en-US" sz="36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25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844824"/>
            <a:ext cx="3707976" cy="339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23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332656"/>
            <a:ext cx="7886700" cy="1325563"/>
          </a:xfrm>
        </p:spPr>
        <p:txBody>
          <a:bodyPr>
            <a:normAutofit/>
          </a:bodyPr>
          <a:lstStyle/>
          <a:p>
            <a:r>
              <a:rPr lang="es-AR" sz="3200" b="1" dirty="0"/>
              <a:t>Variación de los concentración de portadores minoritarios con la temperatura</a:t>
            </a:r>
            <a:endParaRPr lang="en-US" sz="32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26</a:t>
            </a:fld>
            <a:endParaRPr lang="es-E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5923677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969596" cy="182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63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3634"/>
          </a:xfrm>
        </p:spPr>
        <p:txBody>
          <a:bodyPr>
            <a:noAutofit/>
          </a:bodyPr>
          <a:lstStyle/>
          <a:p>
            <a:r>
              <a:rPr lang="es-AR" sz="3600" b="1" dirty="0"/>
              <a:t>Concentración intrínseca de materiales</a:t>
            </a:r>
            <a:endParaRPr lang="en-US" sz="36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27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842" y="1484785"/>
            <a:ext cx="6058470" cy="376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1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s-AR" sz="3200" b="1" dirty="0"/>
              <a:t>Comparación de características de materiales</a:t>
            </a:r>
            <a:endParaRPr lang="en-US" sz="32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28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1614488"/>
            <a:ext cx="5676900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84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29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40768"/>
            <a:ext cx="7571439" cy="417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s-AR" sz="3200" b="1" dirty="0"/>
              <a:t>Comparación de características de materiales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3460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3600" b="1" dirty="0"/>
              <a:t>Construcción de dos uniones que soportan la «misma tensión máxima»</a:t>
            </a:r>
            <a:endParaRPr lang="en-US" sz="36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30</a:t>
            </a:fld>
            <a:endParaRPr lang="es-E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04" y="1628800"/>
            <a:ext cx="702519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437112"/>
            <a:ext cx="2779509" cy="5760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705170" y="5085184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/>
              <a:t>Por otro lado, si construimos </a:t>
            </a:r>
            <a:r>
              <a:rPr lang="es-ES" dirty="0"/>
              <a:t>dos uniones (una de Silicio, y otra de SIC) que tengan la misma resistencia, veríamos que </a:t>
            </a:r>
            <a:r>
              <a:rPr lang="es-ES" dirty="0">
                <a:solidFill>
                  <a:srgbClr val="FF0000"/>
                </a:solidFill>
              </a:rPr>
              <a:t>el SIC soporta 9,6 veces </a:t>
            </a:r>
            <a:r>
              <a:rPr lang="es-ES" dirty="0" smtClean="0">
                <a:solidFill>
                  <a:srgbClr val="FF0000"/>
                </a:solidFill>
              </a:rPr>
              <a:t>mas tensión que el Silicio. </a:t>
            </a:r>
            <a:r>
              <a:rPr lang="es-ES" dirty="0" smtClean="0">
                <a:solidFill>
                  <a:srgbClr val="0070C0"/>
                </a:solidFill>
              </a:rPr>
              <a:t>(</a:t>
            </a:r>
            <a:r>
              <a:rPr lang="es-ES" dirty="0" err="1" smtClean="0">
                <a:solidFill>
                  <a:srgbClr val="0070C0"/>
                </a:solidFill>
              </a:rPr>
              <a:t>EcSic</a:t>
            </a:r>
            <a:r>
              <a:rPr lang="es-ES" dirty="0" smtClean="0">
                <a:solidFill>
                  <a:srgbClr val="0070C0"/>
                </a:solidFill>
              </a:rPr>
              <a:t> aprox. 10 veces mayor al </a:t>
            </a:r>
            <a:r>
              <a:rPr lang="es-ES" dirty="0" err="1" smtClean="0">
                <a:solidFill>
                  <a:srgbClr val="0070C0"/>
                </a:solidFill>
              </a:rPr>
              <a:t>EcSi</a:t>
            </a:r>
            <a:r>
              <a:rPr lang="es-ES" dirty="0" smtClean="0">
                <a:solidFill>
                  <a:srgbClr val="0070C0"/>
                </a:solidFill>
              </a:rPr>
              <a:t> y µ</a:t>
            </a:r>
            <a:r>
              <a:rPr lang="es-AR" dirty="0" err="1" smtClean="0">
                <a:solidFill>
                  <a:srgbClr val="0070C0"/>
                </a:solidFill>
              </a:rPr>
              <a:t>nSic</a:t>
            </a:r>
            <a:r>
              <a:rPr lang="es-AR" dirty="0" smtClean="0">
                <a:solidFill>
                  <a:srgbClr val="0070C0"/>
                </a:solidFill>
              </a:rPr>
              <a:t> es </a:t>
            </a:r>
            <a:r>
              <a:rPr lang="es-AR" dirty="0">
                <a:solidFill>
                  <a:srgbClr val="0070C0"/>
                </a:solidFill>
              </a:rPr>
              <a:t>algo menor </a:t>
            </a:r>
            <a:r>
              <a:rPr lang="es-AR" dirty="0" smtClean="0">
                <a:solidFill>
                  <a:srgbClr val="0070C0"/>
                </a:solidFill>
              </a:rPr>
              <a:t>al del </a:t>
            </a:r>
            <a:r>
              <a:rPr lang="es-AR" dirty="0">
                <a:solidFill>
                  <a:srgbClr val="0070C0"/>
                </a:solidFill>
              </a:rPr>
              <a:t>Silicio</a:t>
            </a:r>
            <a:r>
              <a:rPr lang="es-ES" dirty="0" smtClean="0">
                <a:solidFill>
                  <a:srgbClr val="0070C0"/>
                </a:solidFill>
              </a:rPr>
              <a:t>)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293096"/>
            <a:ext cx="1944216" cy="812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6442"/>
            <a:ext cx="2337817" cy="7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45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>
            <a:normAutofit/>
          </a:bodyPr>
          <a:lstStyle/>
          <a:p>
            <a:r>
              <a:rPr lang="es-AR" sz="3600" b="1" dirty="0"/>
              <a:t>Diodos de SIC</a:t>
            </a:r>
            <a:endParaRPr lang="en-US" sz="36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31</a:t>
            </a:fld>
            <a:endParaRPr lang="es-E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68760"/>
            <a:ext cx="4680520" cy="1257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747963"/>
            <a:ext cx="5434978" cy="1545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419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b="1" dirty="0"/>
              <a:t>Transistor de Efecto de Campo </a:t>
            </a:r>
            <a:r>
              <a:rPr lang="es-AR" sz="3600" b="1" dirty="0" err="1"/>
              <a:t>JFET</a:t>
            </a:r>
            <a:r>
              <a:rPr lang="es-AR" sz="3600" b="1" dirty="0"/>
              <a:t> de </a:t>
            </a:r>
            <a:r>
              <a:rPr lang="es-AR" sz="3600" b="1" dirty="0" err="1"/>
              <a:t>SiC</a:t>
            </a:r>
            <a:endParaRPr lang="en-US" sz="36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4805" y="1412776"/>
            <a:ext cx="6045427" cy="2476871"/>
          </a:xfrm>
        </p:spPr>
        <p:txBody>
          <a:bodyPr/>
          <a:lstStyle/>
          <a:p>
            <a:pPr marL="0" indent="0">
              <a:buNone/>
            </a:pPr>
            <a:r>
              <a:rPr lang="es-AR" sz="2000" dirty="0">
                <a:solidFill>
                  <a:srgbClr val="002060"/>
                </a:solidFill>
              </a:rPr>
              <a:t>Ventajas:</a:t>
            </a:r>
          </a:p>
          <a:p>
            <a:r>
              <a:rPr lang="es-AR" sz="2000" dirty="0">
                <a:solidFill>
                  <a:srgbClr val="002060"/>
                </a:solidFill>
              </a:rPr>
              <a:t>Es un dispositivo de conducción unipolar.</a:t>
            </a:r>
          </a:p>
          <a:p>
            <a:r>
              <a:rPr lang="es-AR" sz="2000" dirty="0">
                <a:solidFill>
                  <a:srgbClr val="002060"/>
                </a:solidFill>
              </a:rPr>
              <a:t>No es bipolar </a:t>
            </a:r>
            <a:r>
              <a:rPr lang="es-AR" sz="2000" dirty="0">
                <a:solidFill>
                  <a:srgbClr val="002060"/>
                </a:solidFill>
                <a:sym typeface="Wingdings" pitchFamily="2" charset="2"/>
              </a:rPr>
              <a:t> sin degeneración bipolar.</a:t>
            </a:r>
          </a:p>
          <a:p>
            <a:r>
              <a:rPr lang="es-AR" sz="2000" dirty="0">
                <a:solidFill>
                  <a:srgbClr val="002060"/>
                </a:solidFill>
                <a:sym typeface="Wingdings" pitchFamily="2" charset="2"/>
              </a:rPr>
              <a:t>Es rápido.</a:t>
            </a:r>
          </a:p>
          <a:p>
            <a:r>
              <a:rPr lang="es-AR" sz="2000" dirty="0">
                <a:solidFill>
                  <a:srgbClr val="002060"/>
                </a:solidFill>
                <a:sym typeface="Wingdings" pitchFamily="2" charset="2"/>
              </a:rPr>
              <a:t>Se fabrica partiendo de obleas N.</a:t>
            </a:r>
          </a:p>
          <a:p>
            <a:r>
              <a:rPr lang="es-AR" sz="2000" dirty="0">
                <a:solidFill>
                  <a:srgbClr val="002060"/>
                </a:solidFill>
                <a:sym typeface="Wingdings" pitchFamily="2" charset="2"/>
              </a:rPr>
              <a:t>Estructura simple.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32</a:t>
            </a:fld>
            <a:endParaRPr lang="es-ES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62880" y="4005064"/>
            <a:ext cx="6501408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2000" dirty="0">
                <a:solidFill>
                  <a:srgbClr val="C00000"/>
                </a:solidFill>
              </a:rPr>
              <a:t>Desventajas:</a:t>
            </a:r>
          </a:p>
          <a:p>
            <a:r>
              <a:rPr lang="es-AR" sz="2000" dirty="0">
                <a:solidFill>
                  <a:srgbClr val="C00000"/>
                </a:solidFill>
              </a:rPr>
              <a:t>Es un dispositivo normalmente cerrado (</a:t>
            </a:r>
            <a:r>
              <a:rPr lang="es-AR" sz="2000" dirty="0" err="1">
                <a:solidFill>
                  <a:srgbClr val="C00000"/>
                </a:solidFill>
              </a:rPr>
              <a:t>normally-on</a:t>
            </a:r>
            <a:r>
              <a:rPr lang="es-AR" sz="2000" dirty="0">
                <a:solidFill>
                  <a:srgbClr val="C00000"/>
                </a:solidFill>
              </a:rPr>
              <a:t>).</a:t>
            </a:r>
          </a:p>
          <a:p>
            <a:r>
              <a:rPr lang="es-AR" sz="2000" dirty="0">
                <a:solidFill>
                  <a:srgbClr val="C00000"/>
                </a:solidFill>
              </a:rPr>
              <a:t>Se controla con tensión negativa.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869160"/>
            <a:ext cx="938733" cy="121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2123728" y="5332566"/>
            <a:ext cx="506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Una</a:t>
            </a:r>
            <a:r>
              <a:rPr lang="en-US" b="1" i="1" dirty="0"/>
              <a:t> </a:t>
            </a:r>
            <a:r>
              <a:rPr lang="en-US" b="1" i="1" dirty="0" err="1"/>
              <a:t>alternativa</a:t>
            </a:r>
            <a:r>
              <a:rPr lang="en-US" b="1" i="1" dirty="0"/>
              <a:t>: </a:t>
            </a:r>
            <a:r>
              <a:rPr lang="en-US" b="1" i="1" dirty="0" err="1" smtClean="0"/>
              <a:t>es</a:t>
            </a:r>
            <a:r>
              <a:rPr lang="en-US" b="1" i="1" dirty="0" smtClean="0"/>
              <a:t> el </a:t>
            </a:r>
            <a:r>
              <a:rPr lang="en-US" b="1" i="1" dirty="0" err="1" smtClean="0"/>
              <a:t>cascodo</a:t>
            </a:r>
            <a:r>
              <a:rPr lang="en-US" b="1" i="1" dirty="0" smtClean="0"/>
              <a:t> JFET-</a:t>
            </a:r>
            <a:r>
              <a:rPr lang="en-US" b="1" i="1" dirty="0" err="1" smtClean="0"/>
              <a:t>SiC</a:t>
            </a:r>
            <a:r>
              <a:rPr lang="en-US" b="1" i="1" dirty="0"/>
              <a:t>+ MOSFET-Si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2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000" dirty="0" smtClean="0"/>
              <a:t>Ejemplo de Circuito de Potencia</a:t>
            </a:r>
            <a:endParaRPr lang="en-US" sz="40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33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000250"/>
            <a:ext cx="8253413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3131840" y="4673084"/>
            <a:ext cx="2661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JFETS abiertos ó cerrados?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4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1626"/>
          </a:xfrm>
        </p:spPr>
        <p:txBody>
          <a:bodyPr>
            <a:normAutofit/>
          </a:bodyPr>
          <a:lstStyle/>
          <a:p>
            <a:r>
              <a:rPr lang="es-AR" sz="3600" b="1" dirty="0" err="1"/>
              <a:t>Mosfet</a:t>
            </a:r>
            <a:r>
              <a:rPr lang="es-AR" sz="3600" b="1" dirty="0"/>
              <a:t> de </a:t>
            </a:r>
            <a:r>
              <a:rPr lang="es-AR" sz="3600" b="1" dirty="0" err="1"/>
              <a:t>SiC</a:t>
            </a:r>
            <a:endParaRPr lang="en-US" sz="36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34</a:t>
            </a:fld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584" y="1412776"/>
            <a:ext cx="4137473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67544" y="4244895"/>
            <a:ext cx="8352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- </a:t>
            </a:r>
            <a:r>
              <a:rPr lang="es-AR" dirty="0" smtClean="0"/>
              <a:t> Problema</a:t>
            </a:r>
            <a:r>
              <a:rPr lang="es-AR" dirty="0"/>
              <a:t>: </a:t>
            </a:r>
            <a:r>
              <a:rPr lang="es-AR" b="1" dirty="0"/>
              <a:t>baja movilidad de los electrones en el canal</a:t>
            </a:r>
            <a:r>
              <a:rPr lang="en-US" dirty="0"/>
              <a:t> </a:t>
            </a:r>
            <a:r>
              <a:rPr lang="en-US" dirty="0" err="1"/>
              <a:t>debido</a:t>
            </a:r>
            <a:r>
              <a:rPr lang="en-US" dirty="0"/>
              <a:t> a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cargas</a:t>
            </a:r>
            <a:r>
              <a:rPr lang="en-US" dirty="0"/>
              <a:t> </a:t>
            </a:r>
            <a:r>
              <a:rPr lang="en-US" dirty="0" err="1"/>
              <a:t>eléctricas</a:t>
            </a:r>
            <a:r>
              <a:rPr lang="en-US" dirty="0"/>
              <a:t> </a:t>
            </a:r>
          </a:p>
          <a:p>
            <a:r>
              <a:rPr lang="en-US" dirty="0"/>
              <a:t> 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 smtClean="0"/>
              <a:t>acumulan</a:t>
            </a:r>
            <a:r>
              <a:rPr lang="en-US" dirty="0" smtClean="0"/>
              <a:t> </a:t>
            </a:r>
            <a:r>
              <a:rPr lang="en-US" dirty="0"/>
              <a:t>en el </a:t>
            </a:r>
            <a:r>
              <a:rPr lang="en-US" dirty="0" err="1"/>
              <a:t>óxido</a:t>
            </a:r>
            <a:r>
              <a:rPr lang="en-US" dirty="0"/>
              <a:t>.</a:t>
            </a:r>
          </a:p>
          <a:p>
            <a:r>
              <a:rPr lang="es-AR" dirty="0"/>
              <a:t>- </a:t>
            </a:r>
            <a:r>
              <a:rPr lang="es-AR" dirty="0" smtClean="0"/>
              <a:t> El </a:t>
            </a:r>
            <a:r>
              <a:rPr lang="es-AR" b="1" dirty="0"/>
              <a:t>material del óxido es clave</a:t>
            </a:r>
            <a:r>
              <a:rPr lang="es-AR" dirty="0"/>
              <a:t>.</a:t>
            </a:r>
          </a:p>
          <a:p>
            <a:pPr marL="285750" indent="-285750">
              <a:buFontTx/>
              <a:buChar char="-"/>
            </a:pPr>
            <a:r>
              <a:rPr lang="es-AR" dirty="0" smtClean="0"/>
              <a:t>Es </a:t>
            </a:r>
            <a:r>
              <a:rPr lang="es-AR" dirty="0"/>
              <a:t>difícil conseguir el óxido del </a:t>
            </a:r>
            <a:r>
              <a:rPr lang="es-AR" dirty="0" smtClean="0"/>
              <a:t>SIC.</a:t>
            </a:r>
          </a:p>
          <a:p>
            <a:pPr marL="285750" indent="-285750">
              <a:buFontTx/>
              <a:buChar char="-"/>
            </a:pPr>
            <a:r>
              <a:rPr lang="es-AR" dirty="0" smtClean="0"/>
              <a:t>No reemplazan directamente a los </a:t>
            </a:r>
            <a:r>
              <a:rPr lang="es-AR" dirty="0" err="1" smtClean="0"/>
              <a:t>Mosfets</a:t>
            </a:r>
            <a:r>
              <a:rPr lang="es-AR" dirty="0" smtClean="0"/>
              <a:t> de silicio debido a que manejan distintas tensiones de puerta.</a:t>
            </a:r>
            <a:endParaRPr lang="es-AR" dirty="0"/>
          </a:p>
        </p:txBody>
      </p:sp>
      <p:sp>
        <p:nvSpPr>
          <p:cNvPr id="3" name="2 CuadroTexto"/>
          <p:cNvSpPr txBox="1"/>
          <p:nvPr/>
        </p:nvSpPr>
        <p:spPr>
          <a:xfrm>
            <a:off x="6031232" y="1779548"/>
            <a:ext cx="1853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smtClean="0"/>
              <a:t>Dispositivo lateral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8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35</a:t>
            </a:fld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553" y="5229198"/>
            <a:ext cx="2562661" cy="599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199" y="1196752"/>
            <a:ext cx="6188067" cy="390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1626"/>
          </a:xfrm>
        </p:spPr>
        <p:txBody>
          <a:bodyPr>
            <a:normAutofit/>
          </a:bodyPr>
          <a:lstStyle/>
          <a:p>
            <a:r>
              <a:rPr lang="es-AR" sz="3600" b="1" dirty="0" err="1"/>
              <a:t>Mosfet</a:t>
            </a:r>
            <a:r>
              <a:rPr lang="es-AR" sz="3600" b="1" dirty="0"/>
              <a:t> </a:t>
            </a:r>
            <a:r>
              <a:rPr lang="es-AR" sz="3600" b="1" dirty="0" err="1"/>
              <a:t>SiC</a:t>
            </a:r>
            <a:r>
              <a:rPr lang="es-AR" sz="3600" b="1" dirty="0"/>
              <a:t> vs </a:t>
            </a:r>
            <a:r>
              <a:rPr lang="es-AR" sz="3600" b="1" dirty="0" err="1"/>
              <a:t>Mosfet</a:t>
            </a:r>
            <a:r>
              <a:rPr lang="es-AR" sz="3600" b="1" dirty="0"/>
              <a:t> Si</a:t>
            </a:r>
            <a:endParaRPr lang="en-US" sz="3600" b="1" dirty="0"/>
          </a:p>
        </p:txBody>
      </p:sp>
      <p:sp>
        <p:nvSpPr>
          <p:cNvPr id="2" name="1 CuadroTexto"/>
          <p:cNvSpPr txBox="1"/>
          <p:nvPr/>
        </p:nvSpPr>
        <p:spPr>
          <a:xfrm>
            <a:off x="1337199" y="5203939"/>
            <a:ext cx="3018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dirty="0" smtClean="0"/>
              <a:t>El factor de mérito de R</a:t>
            </a:r>
            <a:r>
              <a:rPr lang="es-AR" sz="1200" dirty="0" smtClean="0"/>
              <a:t>DS</a:t>
            </a:r>
            <a:r>
              <a:rPr lang="es-AR" sz="1600" dirty="0" smtClean="0"/>
              <a:t> x </a:t>
            </a:r>
            <a:r>
              <a:rPr lang="es-AR" sz="1600" dirty="0" err="1" smtClean="0"/>
              <a:t>Qg</a:t>
            </a:r>
            <a:r>
              <a:rPr lang="es-AR" sz="1600" dirty="0" smtClean="0"/>
              <a:t> es: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6516216" y="1897087"/>
            <a:ext cx="1904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 err="1"/>
              <a:t>Qg</a:t>
            </a:r>
            <a:r>
              <a:rPr lang="es-AR" sz="1600" b="1" dirty="0"/>
              <a:t>= carga de </a:t>
            </a:r>
            <a:r>
              <a:rPr lang="es-AR" sz="1600" b="1" dirty="0" smtClean="0"/>
              <a:t>puerta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1339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s-AR" sz="3600" b="1" dirty="0" err="1"/>
              <a:t>GaN</a:t>
            </a:r>
            <a:r>
              <a:rPr lang="es-AR" sz="3600" b="1" dirty="0"/>
              <a:t>: Nitruro de Galio</a:t>
            </a:r>
            <a:endParaRPr lang="en-US" sz="36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r>
              <a:rPr lang="es-AR" sz="2000" dirty="0"/>
              <a:t>Se pueden hacer diodos parecidos a los de SIC</a:t>
            </a:r>
            <a:r>
              <a:rPr lang="es-AR" sz="2000" dirty="0" smtClean="0"/>
              <a:t>. (no es el interés principal)</a:t>
            </a:r>
            <a:endParaRPr lang="es-AR" sz="2000" dirty="0"/>
          </a:p>
          <a:p>
            <a:r>
              <a:rPr lang="es-AR" sz="2000" dirty="0"/>
              <a:t>Se usan principalmente para hacer </a:t>
            </a:r>
            <a:r>
              <a:rPr lang="es-AR" sz="2000" dirty="0" err="1"/>
              <a:t>HEMTs</a:t>
            </a:r>
            <a:r>
              <a:rPr lang="es-AR" sz="2000" dirty="0"/>
              <a:t> (High </a:t>
            </a:r>
            <a:r>
              <a:rPr lang="es-AR" sz="2000" dirty="0" err="1"/>
              <a:t>Electron</a:t>
            </a:r>
            <a:r>
              <a:rPr lang="es-AR" sz="2000" dirty="0"/>
              <a:t> </a:t>
            </a:r>
            <a:r>
              <a:rPr lang="es-AR" sz="2000" dirty="0" err="1"/>
              <a:t>Mobility</a:t>
            </a:r>
            <a:r>
              <a:rPr lang="es-AR" sz="2000" dirty="0"/>
              <a:t> Transistor</a:t>
            </a:r>
            <a:r>
              <a:rPr lang="es-AR" sz="2000" dirty="0" smtClean="0"/>
              <a:t>), el cual es un transistor de </a:t>
            </a:r>
            <a:r>
              <a:rPr lang="es-AR" sz="2000" dirty="0" err="1" smtClean="0"/>
              <a:t>heterounión</a:t>
            </a:r>
            <a:r>
              <a:rPr lang="es-AR" sz="2000" dirty="0" smtClean="0"/>
              <a:t>.</a:t>
            </a:r>
            <a:endParaRPr lang="es-AR" sz="2000" dirty="0"/>
          </a:p>
          <a:p>
            <a:r>
              <a:rPr lang="es-AR" sz="2000" dirty="0"/>
              <a:t>Se comportan como un </a:t>
            </a:r>
            <a:r>
              <a:rPr lang="es-AR" sz="2000" dirty="0" err="1"/>
              <a:t>MESFET</a:t>
            </a:r>
            <a:r>
              <a:rPr lang="es-AR" sz="2000" dirty="0"/>
              <a:t> (un </a:t>
            </a:r>
            <a:r>
              <a:rPr lang="es-AR" sz="2000" dirty="0" err="1"/>
              <a:t>JFET</a:t>
            </a:r>
            <a:r>
              <a:rPr lang="es-AR" sz="2000" dirty="0"/>
              <a:t> de puerta metálica en vez de semiconductora) pero con un canal compuesto por un «gas bidireccional de electrones» (2D gas).</a:t>
            </a:r>
          </a:p>
          <a:p>
            <a:r>
              <a:rPr lang="es-AR" sz="2000" dirty="0"/>
              <a:t>La conductividad de </a:t>
            </a:r>
            <a:r>
              <a:rPr lang="es-AR" sz="2000" dirty="0" smtClean="0"/>
              <a:t>este </a:t>
            </a:r>
            <a:r>
              <a:rPr lang="es-AR" sz="2000" dirty="0"/>
              <a:t>canal es altísima y se consigue con muy bajas capacidades parásitas.</a:t>
            </a:r>
          </a:p>
          <a:p>
            <a:r>
              <a:rPr lang="es-AR" sz="2000" dirty="0"/>
              <a:t>Los </a:t>
            </a:r>
            <a:r>
              <a:rPr lang="es-AR" sz="2000" dirty="0" err="1"/>
              <a:t>HEMTs</a:t>
            </a:r>
            <a:r>
              <a:rPr lang="es-AR" sz="2000" dirty="0"/>
              <a:t> tradicionales se basan en </a:t>
            </a:r>
            <a:r>
              <a:rPr lang="es-AR" sz="2000" dirty="0" err="1"/>
              <a:t>heterojunturas</a:t>
            </a:r>
            <a:r>
              <a:rPr lang="es-AR" sz="2000" dirty="0"/>
              <a:t> de </a:t>
            </a:r>
            <a:r>
              <a:rPr lang="es-AR" sz="2000" dirty="0" err="1"/>
              <a:t>GaAs</a:t>
            </a:r>
            <a:r>
              <a:rPr lang="es-AR" sz="2000" dirty="0"/>
              <a:t> y </a:t>
            </a:r>
            <a:r>
              <a:rPr lang="es-AR" sz="2000" dirty="0" err="1"/>
              <a:t>AlGaAs</a:t>
            </a:r>
            <a:r>
              <a:rPr lang="es-AR" sz="2000" dirty="0"/>
              <a:t>.</a:t>
            </a:r>
          </a:p>
          <a:p>
            <a:r>
              <a:rPr lang="es-AR" sz="2000" dirty="0"/>
              <a:t>Se usan para amplificación en microondas.</a:t>
            </a:r>
          </a:p>
          <a:p>
            <a:r>
              <a:rPr lang="es-AR" sz="2000" dirty="0" err="1"/>
              <a:t>HEMTs</a:t>
            </a:r>
            <a:r>
              <a:rPr lang="es-AR" sz="2000" dirty="0"/>
              <a:t> fabricados en </a:t>
            </a:r>
            <a:r>
              <a:rPr lang="es-AR" sz="2000" dirty="0" err="1"/>
              <a:t>GaN</a:t>
            </a:r>
            <a:r>
              <a:rPr lang="es-AR" sz="2000" dirty="0"/>
              <a:t> y </a:t>
            </a:r>
            <a:r>
              <a:rPr lang="es-AR" sz="2000" dirty="0" err="1"/>
              <a:t>ALGaN</a:t>
            </a:r>
            <a:r>
              <a:rPr lang="es-AR" sz="2000" dirty="0"/>
              <a:t> (en vez de </a:t>
            </a:r>
            <a:r>
              <a:rPr lang="es-AR" sz="2000" dirty="0" err="1"/>
              <a:t>de</a:t>
            </a:r>
            <a:r>
              <a:rPr lang="es-AR" sz="2000" dirty="0"/>
              <a:t> </a:t>
            </a:r>
            <a:r>
              <a:rPr lang="es-AR" sz="2000" dirty="0" err="1"/>
              <a:t>GaAs</a:t>
            </a:r>
            <a:r>
              <a:rPr lang="es-AR" sz="2000" dirty="0"/>
              <a:t> y </a:t>
            </a:r>
            <a:r>
              <a:rPr lang="es-AR" sz="2000" dirty="0" err="1"/>
              <a:t>AlGaAs</a:t>
            </a:r>
            <a:r>
              <a:rPr lang="es-AR" sz="2000" dirty="0"/>
              <a:t>) pueden disipar mejor el calor y trabajar a mayores tensiones.</a:t>
            </a:r>
          </a:p>
          <a:p>
            <a:r>
              <a:rPr lang="es-AR" sz="2000" dirty="0"/>
              <a:t>Los </a:t>
            </a:r>
            <a:r>
              <a:rPr lang="es-AR" sz="2000" dirty="0" err="1"/>
              <a:t>HEMTs</a:t>
            </a:r>
            <a:r>
              <a:rPr lang="es-AR" sz="2000" dirty="0"/>
              <a:t> de </a:t>
            </a:r>
            <a:r>
              <a:rPr lang="es-AR" sz="2000" dirty="0" err="1" smtClean="0"/>
              <a:t>GaN</a:t>
            </a:r>
            <a:r>
              <a:rPr lang="es-AR" sz="2000" dirty="0" smtClean="0"/>
              <a:t> </a:t>
            </a:r>
            <a:r>
              <a:rPr lang="es-AR" sz="2000" dirty="0"/>
              <a:t>son dispositivos de alta movilidad de </a:t>
            </a:r>
            <a:r>
              <a:rPr lang="es-AR" sz="2000" dirty="0" smtClean="0"/>
              <a:t>electrones.</a:t>
            </a:r>
            <a:endParaRPr lang="es-AR" sz="20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938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8208912" cy="1325563"/>
          </a:xfrm>
        </p:spPr>
        <p:txBody>
          <a:bodyPr>
            <a:normAutofit/>
          </a:bodyPr>
          <a:lstStyle/>
          <a:p>
            <a:r>
              <a:rPr lang="es-AR" sz="2800" b="1" dirty="0"/>
              <a:t>Comportamiento de un </a:t>
            </a:r>
            <a:r>
              <a:rPr lang="es-AR" sz="2800" b="1" dirty="0" err="1"/>
              <a:t>HEMT</a:t>
            </a:r>
            <a:r>
              <a:rPr lang="es-AR" sz="2800" b="1" dirty="0"/>
              <a:t> tradicional de señal de </a:t>
            </a:r>
            <a:r>
              <a:rPr lang="es-AR" sz="2800" b="1" dirty="0" err="1"/>
              <a:t>AlGaAs-GaAs</a:t>
            </a:r>
            <a:endParaRPr lang="en-US" sz="28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37</a:t>
            </a:fld>
            <a:endParaRPr lang="es-E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632" y="1988840"/>
            <a:ext cx="3813760" cy="2458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908" y="1340768"/>
            <a:ext cx="4058356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233" y="4653136"/>
            <a:ext cx="5074071" cy="707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851" y="5473252"/>
            <a:ext cx="4554397" cy="516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348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200" b="1" dirty="0" err="1"/>
              <a:t>HEMT</a:t>
            </a:r>
            <a:r>
              <a:rPr lang="es-AR" sz="3200" b="1" dirty="0"/>
              <a:t> de Potencia de </a:t>
            </a:r>
            <a:r>
              <a:rPr lang="es-AR" sz="3200" b="1" dirty="0" err="1"/>
              <a:t>AlGaN-GaN</a:t>
            </a:r>
            <a:r>
              <a:rPr lang="es-AR" sz="3200" b="1" dirty="0"/>
              <a:t> para aplicaciones lineales de RF</a:t>
            </a:r>
            <a:endParaRPr lang="en-US" sz="32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38</a:t>
            </a:fld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268" y="1484784"/>
            <a:ext cx="5688632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827584" y="4687976"/>
            <a:ext cx="7632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- Con esta tecnología se construyeron dispositivos para la amplificación de radiofrecuencia (RF).</a:t>
            </a:r>
          </a:p>
          <a:p>
            <a:pPr algn="just"/>
            <a:r>
              <a:rPr lang="es-AR" dirty="0" smtClean="0"/>
              <a:t>- En RF no importa que sean normalmente cerrados.</a:t>
            </a:r>
          </a:p>
          <a:p>
            <a:pPr algn="just"/>
            <a:r>
              <a:rPr lang="es-AR" dirty="0" smtClean="0"/>
              <a:t>- Pero en electrónica de potencia conseguiremos que sean normalmente abiertos?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9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200" b="1" dirty="0"/>
              <a:t>Tipos de </a:t>
            </a:r>
            <a:r>
              <a:rPr lang="es-AR" sz="3200" b="1" dirty="0" err="1"/>
              <a:t>HEMT</a:t>
            </a:r>
            <a:r>
              <a:rPr lang="es-AR" sz="3200" b="1" dirty="0"/>
              <a:t> de </a:t>
            </a:r>
            <a:r>
              <a:rPr lang="es-AR" sz="3200" b="1" dirty="0" err="1"/>
              <a:t>AlGaN-GaN</a:t>
            </a:r>
            <a:r>
              <a:rPr lang="es-AR" sz="3200" b="1" dirty="0"/>
              <a:t> para aplicaciones de potencia</a:t>
            </a:r>
            <a:endParaRPr lang="en-US" sz="3200" b="1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39</a:t>
            </a:fld>
            <a:endParaRPr lang="es-E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50" y="1484784"/>
            <a:ext cx="6325437" cy="388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7596336" y="1628800"/>
            <a:ext cx="1008112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s-AR" dirty="0" err="1" smtClean="0">
                <a:solidFill>
                  <a:schemeClr val="bg1"/>
                </a:solidFill>
              </a:rPr>
              <a:t>Elect</a:t>
            </a:r>
            <a:r>
              <a:rPr lang="es-AR" dirty="0" smtClean="0">
                <a:solidFill>
                  <a:schemeClr val="bg1"/>
                </a:solidFill>
              </a:rPr>
              <a:t> de Potencia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51520" y="3645024"/>
            <a:ext cx="1368152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s-AR" dirty="0" err="1" smtClean="0">
                <a:solidFill>
                  <a:schemeClr val="bg1"/>
                </a:solidFill>
              </a:rPr>
              <a:t>Elect</a:t>
            </a:r>
            <a:r>
              <a:rPr lang="es-AR" dirty="0" smtClean="0">
                <a:solidFill>
                  <a:schemeClr val="bg1"/>
                </a:solidFill>
              </a:rPr>
              <a:t> de Potencia</a:t>
            </a:r>
          </a:p>
          <a:p>
            <a:r>
              <a:rPr lang="es-AR" dirty="0" smtClean="0">
                <a:solidFill>
                  <a:schemeClr val="bg1"/>
                </a:solidFill>
              </a:rPr>
              <a:t>(en </a:t>
            </a:r>
            <a:r>
              <a:rPr lang="es-AR" dirty="0" err="1" smtClean="0">
                <a:solidFill>
                  <a:schemeClr val="bg1"/>
                </a:solidFill>
              </a:rPr>
              <a:t>cascodo</a:t>
            </a:r>
            <a:r>
              <a:rPr lang="es-AR" dirty="0" smtClean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9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40</a:t>
            </a:fld>
            <a:endParaRPr lang="es-ES"/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107504" y="365127"/>
            <a:ext cx="9036496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b="1" dirty="0"/>
              <a:t>Ejemplo de </a:t>
            </a:r>
            <a:r>
              <a:rPr lang="es-AR" sz="3600" b="1" dirty="0" err="1"/>
              <a:t>HEMT</a:t>
            </a:r>
            <a:r>
              <a:rPr lang="es-AR" sz="3600" b="1" dirty="0"/>
              <a:t> de </a:t>
            </a:r>
            <a:r>
              <a:rPr lang="es-AR" sz="3600" b="1" dirty="0" err="1"/>
              <a:t>AlGaN-GaN</a:t>
            </a:r>
            <a:r>
              <a:rPr lang="es-AR" sz="3600" b="1" dirty="0"/>
              <a:t> de </a:t>
            </a:r>
            <a:r>
              <a:rPr lang="es-AR" sz="3600" b="1" dirty="0" err="1"/>
              <a:t>Infineon</a:t>
            </a:r>
            <a:endParaRPr lang="en-US" sz="36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68760"/>
            <a:ext cx="6817940" cy="328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422038" y="4869160"/>
            <a:ext cx="63903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AR" sz="2000" b="1" dirty="0"/>
              <a:t>Son de puerta tipo </a:t>
            </a:r>
            <a:r>
              <a:rPr lang="es-AR" sz="2000" b="1" dirty="0" err="1"/>
              <a:t>MOS</a:t>
            </a:r>
            <a:r>
              <a:rPr lang="es-AR" sz="2000" b="1" dirty="0"/>
              <a:t>.</a:t>
            </a:r>
          </a:p>
          <a:p>
            <a:pPr marL="285750" indent="-285750">
              <a:buFontTx/>
              <a:buChar char="-"/>
            </a:pPr>
            <a:r>
              <a:rPr lang="es-AR" sz="2000" b="1" dirty="0"/>
              <a:t>Son normalmente cerrados.</a:t>
            </a:r>
          </a:p>
          <a:p>
            <a:pPr marL="285750" indent="-285750">
              <a:buFontTx/>
              <a:buChar char="-"/>
            </a:pPr>
            <a:r>
              <a:rPr lang="es-AR" sz="2000" b="1" dirty="0"/>
              <a:t>Están pensados para usarse en configuración </a:t>
            </a:r>
            <a:r>
              <a:rPr lang="es-AR" sz="2000" b="1" dirty="0" err="1"/>
              <a:t>cascode</a:t>
            </a:r>
            <a:r>
              <a:rPr lang="es-AR" sz="2000" b="1" dirty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6449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Bibliografía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Electrónica de Potencia 3ed: Ned </a:t>
            </a:r>
            <a:r>
              <a:rPr lang="es-ES" sz="2400" dirty="0" err="1"/>
              <a:t>Mohan</a:t>
            </a:r>
            <a:r>
              <a:rPr lang="es-ES" sz="2400" dirty="0"/>
              <a:t>; </a:t>
            </a:r>
            <a:r>
              <a:rPr lang="es-ES" sz="2400" dirty="0" err="1"/>
              <a:t>Tore</a:t>
            </a:r>
            <a:r>
              <a:rPr lang="es-ES" sz="2400" dirty="0"/>
              <a:t> </a:t>
            </a:r>
            <a:r>
              <a:rPr lang="es-ES" sz="2400" dirty="0" err="1"/>
              <a:t>Undeland</a:t>
            </a:r>
            <a:r>
              <a:rPr lang="es-ES" sz="2400" dirty="0"/>
              <a:t>; William R. </a:t>
            </a:r>
            <a:r>
              <a:rPr lang="es-ES" sz="2400" dirty="0" err="1"/>
              <a:t>Robins</a:t>
            </a:r>
            <a:r>
              <a:rPr lang="es-ES" sz="2400" dirty="0"/>
              <a:t>  </a:t>
            </a:r>
          </a:p>
          <a:p>
            <a:r>
              <a:rPr lang="es-ES" sz="2400" dirty="0"/>
              <a:t>Robert F. </a:t>
            </a:r>
            <a:r>
              <a:rPr lang="es-ES" sz="2400" dirty="0" err="1"/>
              <a:t>Pierret</a:t>
            </a:r>
            <a:r>
              <a:rPr lang="es-ES" sz="2400" dirty="0"/>
              <a:t> - Semiconductor </a:t>
            </a:r>
            <a:r>
              <a:rPr lang="es-ES" sz="2400" dirty="0" err="1"/>
              <a:t>Device</a:t>
            </a:r>
            <a:r>
              <a:rPr lang="es-ES" sz="2400" dirty="0"/>
              <a:t> Fundamentals (1996, </a:t>
            </a:r>
            <a:r>
              <a:rPr lang="es-ES" sz="2000" dirty="0"/>
              <a:t>Addison Wesley)</a:t>
            </a:r>
          </a:p>
          <a:p>
            <a:r>
              <a:rPr lang="es-ES" sz="2400" dirty="0"/>
              <a:t>Manual para proyectistas – SP-52 – RCA. Circuitos de Potencia de estado sólido</a:t>
            </a:r>
            <a:endParaRPr lang="es-ES" sz="2000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Física Electrónica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E904-6901-431B-9BA7-C86E1292ACDF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490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 Fisica Electróni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emplate_FisicaElectronica4.potx" id="{1FEB4E02-C03B-45DB-B937-87D6F8F2939B}" vid="{FFBFA79A-4639-40EE-9F4E-B94D0C80ED2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2 - Corrientes</Template>
  <TotalTime>13700</TotalTime>
  <Words>2492</Words>
  <Application>Microsoft Office PowerPoint</Application>
  <PresentationFormat>Presentación en pantalla (4:3)</PresentationFormat>
  <Paragraphs>319</Paragraphs>
  <Slides>41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2" baseType="lpstr">
      <vt:lpstr>Template Fisica Electrónica</vt:lpstr>
      <vt:lpstr>Semiconductores y Dispositivos de Potencia</vt:lpstr>
      <vt:lpstr>Presentación de PowerPoint</vt:lpstr>
      <vt:lpstr>Diodo de Potencia</vt:lpstr>
      <vt:lpstr>Recombinación en Dispositivos de Potencia</vt:lpstr>
      <vt:lpstr>Tiristor - Circuito Equivalente</vt:lpstr>
      <vt:lpstr>Presentación de PowerPoint</vt:lpstr>
      <vt:lpstr>Circuitos de aplicación de control de fase</vt:lpstr>
      <vt:lpstr>Tiristor Estructura</vt:lpstr>
      <vt:lpstr>Transición del  Estado de Equilibrio al Estado de Bloqueo Directo del Tiristor</vt:lpstr>
      <vt:lpstr>Encendido del Tiristor</vt:lpstr>
      <vt:lpstr>Apagado y bloqueo inverso del Tiristor</vt:lpstr>
      <vt:lpstr>Tiristor – Estados de Bloqueo</vt:lpstr>
      <vt:lpstr>Tiristor</vt:lpstr>
      <vt:lpstr>Presentación de PowerPoint</vt:lpstr>
      <vt:lpstr>Presentación de PowerPoint</vt:lpstr>
      <vt:lpstr>Tiristor – Transitorio de encendido</vt:lpstr>
      <vt:lpstr>GTO (Gate Turn-Off Thyristor)</vt:lpstr>
      <vt:lpstr>GTO</vt:lpstr>
      <vt:lpstr>GTO</vt:lpstr>
      <vt:lpstr>Mosfet de Potencia - Modelo</vt:lpstr>
      <vt:lpstr>Presentación de PowerPoint</vt:lpstr>
      <vt:lpstr>IGBT (Insulated Gate Bipolar Transistor)</vt:lpstr>
      <vt:lpstr>Flujo de Corrientes y componentes parásitos</vt:lpstr>
      <vt:lpstr>Circuitos Equivalentes IGBT</vt:lpstr>
      <vt:lpstr>Dispositivos de Banda Prohibida Ancha (WBG)</vt:lpstr>
      <vt:lpstr>Variación de los concentración de portadores minoritarios con la temperatura</vt:lpstr>
      <vt:lpstr>Concentración intrínseca de materiales</vt:lpstr>
      <vt:lpstr>Comparación de características de materiales</vt:lpstr>
      <vt:lpstr>Comparación de características de materiales</vt:lpstr>
      <vt:lpstr>Construcción de dos uniones que soportan la «misma tensión máxima»</vt:lpstr>
      <vt:lpstr>Diodos de SIC</vt:lpstr>
      <vt:lpstr>Transistor de Efecto de Campo JFET de SiC</vt:lpstr>
      <vt:lpstr>Ejemplo de Circuito de Potencia</vt:lpstr>
      <vt:lpstr>Mosfet de SiC</vt:lpstr>
      <vt:lpstr>Mosfet SiC vs Mosfet Si</vt:lpstr>
      <vt:lpstr>GaN: Nitruro de Galio</vt:lpstr>
      <vt:lpstr>Comportamiento de un HEMT tradicional de señal de AlGaAs-GaAs</vt:lpstr>
      <vt:lpstr>HEMT de Potencia de AlGaN-GaN para aplicaciones lineales de RF</vt:lpstr>
      <vt:lpstr>Tipos de HEMT de AlGaN-GaN para aplicaciones de potencia</vt:lpstr>
      <vt:lpstr>Presentación de PowerPoint</vt:lpstr>
      <vt:lpstr>Bibliografía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atyse</cp:lastModifiedBy>
  <cp:revision>508</cp:revision>
  <dcterms:created xsi:type="dcterms:W3CDTF">2019-03-10T11:35:40Z</dcterms:created>
  <dcterms:modified xsi:type="dcterms:W3CDTF">2026-05-18T21:17:10Z</dcterms:modified>
</cp:coreProperties>
</file>